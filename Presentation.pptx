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1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embeddedFontLst>
    <p:embeddedFont>
      <p:font typeface="Manrope SemiBold"/>
      <p:regular r:id="rId33"/>
      <p:bold r:id="rId34"/>
    </p:embeddedFont>
    <p:embeddedFont>
      <p:font typeface="Manrope"/>
      <p:regular r:id="rId35"/>
      <p:bold r:id="rId36"/>
    </p:embeddedFont>
    <p:embeddedFont>
      <p:font typeface="Fjalla One"/>
      <p:regular r:id="rId37"/>
    </p:embeddedFont>
    <p:embeddedFont>
      <p:font typeface="Barlow Semi Condensed Medium"/>
      <p:regular r:id="rId38"/>
      <p:bold r:id="rId39"/>
      <p:italic r:id="rId40"/>
      <p:boldItalic r:id="rId41"/>
    </p:embeddedFont>
    <p:embeddedFont>
      <p:font typeface="Noto Sans Symbols"/>
      <p:regular r:id="rId42"/>
      <p:bold r:id="rId43"/>
    </p:embeddedFont>
    <p:embeddedFont>
      <p:font typeface="Barlow Semi Condense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hZebvANZxYnmGjsqQCvJVQIYAd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3587EA-A013-42EB-B199-8143FAD96103}">
  <a:tblStyle styleId="{B33587EA-A013-42EB-B199-8143FAD961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Medium-italic.fntdata"/><Relationship Id="rId20" Type="http://schemas.openxmlformats.org/officeDocument/2006/relationships/slide" Target="slides/slide13.xml"/><Relationship Id="rId42" Type="http://schemas.openxmlformats.org/officeDocument/2006/relationships/font" Target="fonts/NotoSansSymbols-regular.fntdata"/><Relationship Id="rId41" Type="http://schemas.openxmlformats.org/officeDocument/2006/relationships/font" Target="fonts/BarlowSemiCondensedMedium-boldItalic.fntdata"/><Relationship Id="rId22" Type="http://schemas.openxmlformats.org/officeDocument/2006/relationships/slide" Target="slides/slide15.xml"/><Relationship Id="rId44" Type="http://schemas.openxmlformats.org/officeDocument/2006/relationships/font" Target="fonts/BarlowSemiCondensed-regular.fntdata"/><Relationship Id="rId21" Type="http://schemas.openxmlformats.org/officeDocument/2006/relationships/slide" Target="slides/slide14.xml"/><Relationship Id="rId43" Type="http://schemas.openxmlformats.org/officeDocument/2006/relationships/font" Target="fonts/NotoSansSymbols-bold.fntdata"/><Relationship Id="rId24" Type="http://schemas.openxmlformats.org/officeDocument/2006/relationships/slide" Target="slides/slide17.xml"/><Relationship Id="rId46" Type="http://schemas.openxmlformats.org/officeDocument/2006/relationships/font" Target="fonts/BarlowSemiCondensed-italic.fntdata"/><Relationship Id="rId23" Type="http://schemas.openxmlformats.org/officeDocument/2006/relationships/slide" Target="slides/slide16.xml"/><Relationship Id="rId45" Type="http://schemas.openxmlformats.org/officeDocument/2006/relationships/font" Target="fonts/BarlowSemiCondense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customschemas.google.com/relationships/presentationmetadata" Target="metadata"/><Relationship Id="rId25" Type="http://schemas.openxmlformats.org/officeDocument/2006/relationships/slide" Target="slides/slide18.xml"/><Relationship Id="rId47" Type="http://schemas.openxmlformats.org/officeDocument/2006/relationships/font" Target="fonts/BarlowSemiCondensed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ManropeSemiBold-regular.fnt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Manrope-regular.fntdata"/><Relationship Id="rId12" Type="http://schemas.openxmlformats.org/officeDocument/2006/relationships/slide" Target="slides/slide5.xml"/><Relationship Id="rId34" Type="http://schemas.openxmlformats.org/officeDocument/2006/relationships/font" Target="fonts/ManropeSemiBold-bold.fntdata"/><Relationship Id="rId15" Type="http://schemas.openxmlformats.org/officeDocument/2006/relationships/slide" Target="slides/slide8.xml"/><Relationship Id="rId37" Type="http://schemas.openxmlformats.org/officeDocument/2006/relationships/font" Target="fonts/FjallaOne-regular.fntdata"/><Relationship Id="rId14" Type="http://schemas.openxmlformats.org/officeDocument/2006/relationships/slide" Target="slides/slide7.xml"/><Relationship Id="rId36" Type="http://schemas.openxmlformats.org/officeDocument/2006/relationships/font" Target="fonts/Manrope-bold.fntdata"/><Relationship Id="rId17" Type="http://schemas.openxmlformats.org/officeDocument/2006/relationships/slide" Target="slides/slide10.xml"/><Relationship Id="rId39" Type="http://schemas.openxmlformats.org/officeDocument/2006/relationships/font" Target="fonts/BarlowSemiCondensedMedium-bold.fntdata"/><Relationship Id="rId16" Type="http://schemas.openxmlformats.org/officeDocument/2006/relationships/slide" Target="slides/slide9.xml"/><Relationship Id="rId38" Type="http://schemas.openxmlformats.org/officeDocument/2006/relationships/font" Target="fonts/BarlowSemiCondensedMedium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fraud (%)</c:v>
                </c:pt>
              </c:strCache>
            </c:strRef>
          </c:tx>
          <c:spPr>
            <a:solidFill>
              <a:srgbClr val="AEB8C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C29-4B42-A003-932B8CCFA2C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29-4B42-A003-932B8CCFA2C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C29-4B42-A003-932B8CCFA2C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C29-4B42-A003-932B8CCFA2C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C29-4B42-A003-932B8CCFA2C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C29-4B42-A003-932B8CCFA2C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C29-4B42-A003-932B8CCFA2C9}"/>
              </c:ext>
            </c:extLst>
          </c:dPt>
          <c:dPt>
            <c:idx val="7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1C29-4B42-A003-932B8CCFA2C9}"/>
              </c:ext>
            </c:extLst>
          </c:dPt>
          <c:dPt>
            <c:idx val="8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1C29-4B42-A003-932B8CCFA2C9}"/>
              </c:ext>
            </c:extLst>
          </c:dPt>
          <c:dPt>
            <c:idx val="9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1C29-4B42-A003-932B8CCFA2C9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35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personal_care</c:v>
                </c:pt>
                <c:pt idx="1">
                  <c:v>misc_pos</c:v>
                </c:pt>
                <c:pt idx="2">
                  <c:v>entertainment</c:v>
                </c:pt>
                <c:pt idx="3">
                  <c:v>health_fitness</c:v>
                </c:pt>
                <c:pt idx="4">
                  <c:v>gas_transport</c:v>
                </c:pt>
                <c:pt idx="5">
                  <c:v>travel</c:v>
                </c:pt>
                <c:pt idx="6">
                  <c:v>shopping_pos</c:v>
                </c:pt>
                <c:pt idx="7">
                  <c:v>grocery_pos</c:v>
                </c:pt>
                <c:pt idx="8">
                  <c:v>misc_net</c:v>
                </c:pt>
                <c:pt idx="9">
                  <c:v>shopping_net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</c:v>
                </c:pt>
                <c:pt idx="1">
                  <c:v>0.22</c:v>
                </c:pt>
                <c:pt idx="2">
                  <c:v>0.23</c:v>
                </c:pt>
                <c:pt idx="3">
                  <c:v>0.24</c:v>
                </c:pt>
                <c:pt idx="4">
                  <c:v>0.25</c:v>
                </c:pt>
                <c:pt idx="5">
                  <c:v>0.3</c:v>
                </c:pt>
                <c:pt idx="6">
                  <c:v>0.48</c:v>
                </c:pt>
                <c:pt idx="7">
                  <c:v>1.17</c:v>
                </c:pt>
                <c:pt idx="8">
                  <c:v>1.3</c:v>
                </c:pt>
                <c:pt idx="9">
                  <c:v>1.43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C29-4B42-A003-932B8CCFA2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54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7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fbbef6187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fbbef6187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g3fbbef6187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fbbef6187f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fbbef6187f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fbbef6187f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h67e7f9494e76f90c_1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h67e7f9494e76f90c_1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h67e7f9494e76f90c_1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40a1ea2c6ba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40a1ea2c6ba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g40a1ea2c6ba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40a03cbc30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2" name="Google Shape;972;g40a03cbc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40a1ea2c6ba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40a1ea2c6ba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g40a1ea2c6ba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h67e7f9494e76f90c_1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h67e7f9494e76f90c_1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h67e7f9494e76f90c_1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h67e7f9494e76f90c_1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h67e7f9494e76f90c_1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h67e7f9494e76f90c_1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h67e7f9494e76f90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h67e7f9494e76f90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h67e7f9494e76f90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h67e7f9494e76f90c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h67e7f9494e76f90c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h67e7f9494e76f90c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h67e7f9494e76f90c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3" name="Google Shape;1043;h67e7f9494e76f90c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h67e7f9494e76f90c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h67e7f9494e76f90c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reepik.com/" TargetMode="Externa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13" name="Google Shape;13;p20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20"/>
          <p:cNvCxnSpPr/>
          <p:nvPr/>
        </p:nvCxnSpPr>
        <p:spPr>
          <a:xfrm rot="10800000">
            <a:off x="7512840" y="457560"/>
            <a:ext cx="829800" cy="7437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20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" name="Google Shape;16;p20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17" name="Google Shape;17;p20"/>
            <p:cNvSpPr/>
            <p:nvPr/>
          </p:nvSpPr>
          <p:spPr>
            <a:xfrm>
              <a:off x="8068680" y="89280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" name="Google Shape;18;p20"/>
            <p:cNvSpPr/>
            <p:nvPr/>
          </p:nvSpPr>
          <p:spPr>
            <a:xfrm>
              <a:off x="8064360" y="88776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" name="Google Shape;19;p20"/>
            <p:cNvSpPr/>
            <p:nvPr/>
          </p:nvSpPr>
          <p:spPr>
            <a:xfrm>
              <a:off x="8141040" y="96516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" name="Google Shape;20;p20"/>
            <p:cNvSpPr/>
            <p:nvPr/>
          </p:nvSpPr>
          <p:spPr>
            <a:xfrm>
              <a:off x="8136720" y="9604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" name="Google Shape;21;p20"/>
            <p:cNvSpPr/>
            <p:nvPr/>
          </p:nvSpPr>
          <p:spPr>
            <a:xfrm>
              <a:off x="8219880" y="104400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" name="Google Shape;22;p20"/>
            <p:cNvSpPr/>
            <p:nvPr/>
          </p:nvSpPr>
          <p:spPr>
            <a:xfrm>
              <a:off x="8215200" y="103932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" name="Google Shape;23;p20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24" name="Google Shape;24;p20"/>
            <p:cNvSpPr/>
            <p:nvPr/>
          </p:nvSpPr>
          <p:spPr>
            <a:xfrm>
              <a:off x="7358040" y="3211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" name="Google Shape;25;p20"/>
            <p:cNvSpPr/>
            <p:nvPr/>
          </p:nvSpPr>
          <p:spPr>
            <a:xfrm>
              <a:off x="7353000" y="31644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" name="Google Shape;26;p20"/>
            <p:cNvSpPr/>
            <p:nvPr/>
          </p:nvSpPr>
          <p:spPr>
            <a:xfrm>
              <a:off x="7419960" y="3830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" name="Google Shape;27;p20"/>
            <p:cNvSpPr/>
            <p:nvPr/>
          </p:nvSpPr>
          <p:spPr>
            <a:xfrm>
              <a:off x="7415640" y="3787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8" name="Google Shape;28;p20"/>
          <p:cNvSpPr/>
          <p:nvPr/>
        </p:nvSpPr>
        <p:spPr>
          <a:xfrm>
            <a:off x="5690520" y="42588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" name="Google Shape;29;p20"/>
          <p:cNvSpPr/>
          <p:nvPr/>
        </p:nvSpPr>
        <p:spPr>
          <a:xfrm>
            <a:off x="5688360" y="42336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" name="Google Shape;30;p20"/>
          <p:cNvSpPr/>
          <p:nvPr/>
        </p:nvSpPr>
        <p:spPr>
          <a:xfrm>
            <a:off x="5727240" y="46224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" name="Google Shape;31;p20"/>
          <p:cNvSpPr/>
          <p:nvPr/>
        </p:nvSpPr>
        <p:spPr>
          <a:xfrm>
            <a:off x="5724720" y="45972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" name="Google Shape;32;p20"/>
          <p:cNvSpPr/>
          <p:nvPr/>
        </p:nvSpPr>
        <p:spPr>
          <a:xfrm>
            <a:off x="5766480" y="50184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3" name="Google Shape;33;p20"/>
          <p:cNvSpPr/>
          <p:nvPr/>
        </p:nvSpPr>
        <p:spPr>
          <a:xfrm>
            <a:off x="5764320" y="49968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4" name="Google Shape;34;p20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35" name="Google Shape;35;p20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20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" name="Google Shape;37;p20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8" name="Google Shape;38;p20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39" name="Google Shape;39;p20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20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" name="Google Shape;41;p20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2" name="Google Shape;42;p20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43" name="Google Shape;43;p20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" name="Google Shape;44;p20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" name="Google Shape;45;p20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 type="blank">
  <p:cSld name="BLANK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27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b="0" lang="en-US" sz="1100" u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b="0" lang="en-US" sz="1100" u="sng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100" u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icons, infographics &amp; images by </a:t>
            </a:r>
            <a:r>
              <a:rPr b="0" lang="en-US" sz="1100" u="sng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lang="en-US" sz="1100" u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b="0" lang="en-US" sz="1100" u="sng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0" sz="11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0" name="Google Shape;50;p27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27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27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27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4" name="Google Shape;54;p27"/>
          <p:cNvGrpSpPr/>
          <p:nvPr/>
        </p:nvGrpSpPr>
        <p:grpSpPr>
          <a:xfrm>
            <a:off x="7407360" y="1284480"/>
            <a:ext cx="582120" cy="581400"/>
            <a:chOff x="7407360" y="1284480"/>
            <a:chExt cx="582120" cy="581400"/>
          </a:xfrm>
        </p:grpSpPr>
        <p:sp>
          <p:nvSpPr>
            <p:cNvPr id="55" name="Google Shape;55;p27"/>
            <p:cNvSpPr/>
            <p:nvPr/>
          </p:nvSpPr>
          <p:spPr>
            <a:xfrm flipH="1" rot="5400000">
              <a:off x="7412040" y="12895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" name="Google Shape;56;p27"/>
            <p:cNvSpPr/>
            <p:nvPr/>
          </p:nvSpPr>
          <p:spPr>
            <a:xfrm flipH="1" rot="5400000">
              <a:off x="7407720" y="128412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27"/>
            <p:cNvSpPr/>
            <p:nvPr/>
          </p:nvSpPr>
          <p:spPr>
            <a:xfrm flipH="1" rot="5400000">
              <a:off x="7484760" y="136260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27"/>
            <p:cNvSpPr/>
            <p:nvPr/>
          </p:nvSpPr>
          <p:spPr>
            <a:xfrm flipH="1" rot="5400000">
              <a:off x="7480080" y="13564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27"/>
            <p:cNvSpPr/>
            <p:nvPr/>
          </p:nvSpPr>
          <p:spPr>
            <a:xfrm flipH="1" rot="5400000">
              <a:off x="7563240" y="144108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27"/>
            <p:cNvSpPr/>
            <p:nvPr/>
          </p:nvSpPr>
          <p:spPr>
            <a:xfrm flipH="1" rot="5400000">
              <a:off x="7558560" y="14360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" name="Google Shape;61;p27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62" name="Google Shape;62;p27"/>
            <p:cNvSpPr/>
            <p:nvPr/>
          </p:nvSpPr>
          <p:spPr>
            <a:xfrm flipH="1" rot="5400000">
              <a:off x="7874640" y="2759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27"/>
            <p:cNvSpPr/>
            <p:nvPr/>
          </p:nvSpPr>
          <p:spPr>
            <a:xfrm flipH="1" rot="5400000">
              <a:off x="7869960" y="2754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27"/>
            <p:cNvSpPr/>
            <p:nvPr/>
          </p:nvSpPr>
          <p:spPr>
            <a:xfrm flipH="1" rot="5400000">
              <a:off x="7937280" y="2820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27"/>
            <p:cNvSpPr/>
            <p:nvPr/>
          </p:nvSpPr>
          <p:spPr>
            <a:xfrm flipH="1" rot="5400000">
              <a:off x="7932240" y="28155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6" name="Google Shape;66;p27"/>
          <p:cNvGrpSpPr/>
          <p:nvPr/>
        </p:nvGrpSpPr>
        <p:grpSpPr>
          <a:xfrm>
            <a:off x="8012880" y="177480"/>
            <a:ext cx="174600" cy="174600"/>
            <a:chOff x="8012880" y="177480"/>
            <a:chExt cx="174600" cy="174600"/>
          </a:xfrm>
        </p:grpSpPr>
        <p:sp>
          <p:nvSpPr>
            <p:cNvPr id="67" name="Google Shape;67;p27"/>
            <p:cNvSpPr/>
            <p:nvPr/>
          </p:nvSpPr>
          <p:spPr>
            <a:xfrm flipH="1" rot="5400000">
              <a:off x="8016840" y="1825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27"/>
            <p:cNvSpPr/>
            <p:nvPr/>
          </p:nvSpPr>
          <p:spPr>
            <a:xfrm flipH="1" rot="5400000">
              <a:off x="8012880" y="1774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27"/>
            <p:cNvSpPr/>
            <p:nvPr/>
          </p:nvSpPr>
          <p:spPr>
            <a:xfrm flipH="1" rot="5400000">
              <a:off x="8053560" y="2188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" name="Google Shape;70;p27"/>
            <p:cNvSpPr/>
            <p:nvPr/>
          </p:nvSpPr>
          <p:spPr>
            <a:xfrm flipH="1" rot="5400000">
              <a:off x="8048880" y="21492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1" name="Google Shape;71;p27"/>
          <p:cNvGrpSpPr/>
          <p:nvPr/>
        </p:nvGrpSpPr>
        <p:grpSpPr>
          <a:xfrm>
            <a:off x="7551540" y="3880260"/>
            <a:ext cx="293040" cy="292680"/>
            <a:chOff x="7551540" y="3880260"/>
            <a:chExt cx="293040" cy="292680"/>
          </a:xfrm>
        </p:grpSpPr>
        <p:sp>
          <p:nvSpPr>
            <p:cNvPr id="72" name="Google Shape;72;p27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27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27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" name="Google Shape;75;p27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" name="Google Shape;76;p27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" name="Google Shape;77;p27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8" name="Google Shape;78;p27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79" name="Google Shape;79;p27"/>
            <p:cNvSpPr/>
            <p:nvPr/>
          </p:nvSpPr>
          <p:spPr>
            <a:xfrm flipH="1" rot="5400000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" name="Google Shape;80;p27"/>
            <p:cNvSpPr/>
            <p:nvPr/>
          </p:nvSpPr>
          <p:spPr>
            <a:xfrm flipH="1" rot="5400000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27"/>
            <p:cNvSpPr/>
            <p:nvPr/>
          </p:nvSpPr>
          <p:spPr>
            <a:xfrm flipH="1" rot="5400000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82" name="Google Shape;82;p27"/>
          <p:cNvCxnSpPr/>
          <p:nvPr/>
        </p:nvCxnSpPr>
        <p:spPr>
          <a:xfrm rot="10800000">
            <a:off x="1513800" y="1824840"/>
            <a:ext cx="126360" cy="167292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27"/>
          <p:cNvCxnSpPr/>
          <p:nvPr/>
        </p:nvCxnSpPr>
        <p:spPr>
          <a:xfrm flipH="1" rot="10800000">
            <a:off x="889920" y="3510720"/>
            <a:ext cx="743760" cy="82980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7"/>
          <p:cNvCxnSpPr/>
          <p:nvPr/>
        </p:nvCxnSpPr>
        <p:spPr>
          <a:xfrm rot="10800000">
            <a:off x="909720" y="4347000"/>
            <a:ext cx="1188360" cy="79668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5" name="Google Shape;85;p27"/>
          <p:cNvGrpSpPr/>
          <p:nvPr/>
        </p:nvGrpSpPr>
        <p:grpSpPr>
          <a:xfrm>
            <a:off x="621000" y="4062240"/>
            <a:ext cx="582120" cy="581400"/>
            <a:chOff x="621000" y="4062240"/>
            <a:chExt cx="582120" cy="581400"/>
          </a:xfrm>
        </p:grpSpPr>
        <p:sp>
          <p:nvSpPr>
            <p:cNvPr id="86" name="Google Shape;86;p27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" name="Google Shape;87;p27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" name="Google Shape;88;p27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" name="Google Shape;91;p27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2" name="Google Shape;92;p27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93" name="Google Shape;93;p27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27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" name="Google Shape;95;p27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" name="Google Shape;96;p27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7" name="Google Shape;97;p27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98" name="Google Shape;98;p27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" name="Google Shape;99;p27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" name="Google Shape;100;p27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" name="Google Shape;101;p27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2" name="Google Shape;102;p27"/>
          <p:cNvSpPr/>
          <p:nvPr/>
        </p:nvSpPr>
        <p:spPr>
          <a:xfrm rot="5400000">
            <a:off x="1377360" y="168876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3" name="Google Shape;103;p27"/>
          <p:cNvSpPr/>
          <p:nvPr/>
        </p:nvSpPr>
        <p:spPr>
          <a:xfrm rot="5400000">
            <a:off x="1375200" y="168588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4" name="Google Shape;104;p27"/>
          <p:cNvSpPr/>
          <p:nvPr/>
        </p:nvSpPr>
        <p:spPr>
          <a:xfrm rot="5400000">
            <a:off x="1413720" y="172512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" name="Google Shape;105;p27"/>
          <p:cNvSpPr/>
          <p:nvPr/>
        </p:nvSpPr>
        <p:spPr>
          <a:xfrm rot="5400000">
            <a:off x="1411560" y="172260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6" name="Google Shape;106;p27"/>
          <p:cNvSpPr/>
          <p:nvPr/>
        </p:nvSpPr>
        <p:spPr>
          <a:xfrm rot="5400000">
            <a:off x="1453680" y="176472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7" name="Google Shape;107;p27"/>
          <p:cNvSpPr/>
          <p:nvPr/>
        </p:nvSpPr>
        <p:spPr>
          <a:xfrm rot="5400000">
            <a:off x="1451160" y="176256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8" name="Google Shape;108;p27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109" name="Google Shape;109;p27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2" name="Google Shape;112;p27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13" name="Google Shape;113;p27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" name="Google Shape;114;p27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" name="Google Shape;115;p27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6" name="Google Shape;116;p27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17" name="Google Shape;117;p27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27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" name="Google Shape;119;p27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0" name="Google Shape;12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" name="Google Shape;194;p2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02" name="Google Shape;202;p23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23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23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23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4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209" name="Google Shape;209;p24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24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2" name="Google Shape;212;p24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13" name="Google Shape;213;p24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214" name="Google Shape;214;p2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15" name="Google Shape;215;p2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6" name="Google Shape;216;p2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17" name="Google Shape;217;p2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2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24" name="Google Shape;224;p2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2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29" name="Google Shape;229;p2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3" name="Google Shape;233;p2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4" name="Google Shape;234;p2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35" name="Google Shape;235;p2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2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42" name="Google Shape;242;p2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2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" name="Google Shape;246;p2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47" name="Google Shape;247;p2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2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52" name="Google Shape;252;p2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p2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56" name="Google Shape;256;p2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2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60" name="Google Shape;260;p2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2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64" name="Google Shape;264;p2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67" name="Google Shape;267;p2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2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9" name="Google Shape;269;p2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1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23" name="Google Shape;123;p21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" name="Google Shape;124;p21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" name="Google Shape;125;p21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6" name="Google Shape;126;p21"/>
          <p:cNvSpPr txBox="1"/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27" name="Google Shape;127;p21"/>
          <p:cNvGrpSpPr/>
          <p:nvPr/>
        </p:nvGrpSpPr>
        <p:grpSpPr>
          <a:xfrm>
            <a:off x="432720" y="0"/>
            <a:ext cx="8278200" cy="5166000"/>
            <a:chOff x="432720" y="0"/>
            <a:chExt cx="8278200" cy="5166000"/>
          </a:xfrm>
        </p:grpSpPr>
        <p:cxnSp>
          <p:nvCxnSpPr>
            <p:cNvPr id="128" name="Google Shape;128;p21"/>
            <p:cNvCxnSpPr/>
            <p:nvPr/>
          </p:nvCxnSpPr>
          <p:spPr>
            <a:xfrm flipH="1" rot="10800000">
              <a:off x="8420040" y="266400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9" name="Google Shape;129;p21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30" name="Google Shape;130;p21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" name="Google Shape;131;p21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" name="Google Shape;132;p21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" name="Google Shape;133;p21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" name="Google Shape;134;p21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5" name="Google Shape;135;p21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6" name="Google Shape;136;p21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37" name="Google Shape;137;p21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8" name="Google Shape;138;p21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9" name="Google Shape;139;p21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" name="Google Shape;140;p21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1" name="Google Shape;141;p21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42" name="Google Shape;142;p21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" name="Google Shape;143;p21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" name="Google Shape;144;p21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" name="Google Shape;145;p21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46" name="Google Shape;146;p21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7" name="Google Shape;147;p21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48" name="Google Shape;148;p21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" name="Google Shape;149;p21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0" name="Google Shape;150;p21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" name="Google Shape;151;p21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" name="Google Shape;152;p21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" name="Google Shape;153;p21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4" name="Google Shape;154;p21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55" name="Google Shape;155;p21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" name="Google Shape;156;p21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" name="Google Shape;157;p21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8" name="Google Shape;158;p21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9" name="Google Shape;159;p21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60" name="Google Shape;160;p21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1" name="Google Shape;161;p21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2" name="Google Shape;162;p21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" name="Google Shape;163;p21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64" name="Google Shape;164;p21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65" name="Google Shape;165;p21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6" name="Google Shape;166;p21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7" name="Google Shape;167;p21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68" name="Google Shape;168;p21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69" name="Google Shape;169;p21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0" name="Google Shape;170;p21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1" name="Google Shape;171;p21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72" name="Google Shape;172;p21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73" name="Google Shape;173;p21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4" name="Google Shape;174;p21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5" name="Google Shape;175;p21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76" name="Google Shape;176;p21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77" name="Google Shape;177;p21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8" name="Google Shape;178;p21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9" name="Google Shape;179;p21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80" name="Google Shape;180;p21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21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1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6" name="Google Shape;276;p25"/>
          <p:cNvSpPr txBox="1"/>
          <p:nvPr>
            <p:ph idx="1"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77" name="Google Shape;277;p25"/>
          <p:cNvCxnSpPr/>
          <p:nvPr/>
        </p:nvCxnSpPr>
        <p:spPr>
          <a:xfrm rot="10800000">
            <a:off x="302760" y="3359160"/>
            <a:ext cx="152280" cy="9576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25"/>
          <p:cNvCxnSpPr/>
          <p:nvPr/>
        </p:nvCxnSpPr>
        <p:spPr>
          <a:xfrm flipH="1" rot="10800000">
            <a:off x="0" y="4332240"/>
            <a:ext cx="446760" cy="6645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9" name="Google Shape;279;p25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280" name="Google Shape;280;p25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84" name="Google Shape;284;p25"/>
          <p:cNvGrpSpPr/>
          <p:nvPr/>
        </p:nvGrpSpPr>
        <p:grpSpPr>
          <a:xfrm>
            <a:off x="147960" y="3224160"/>
            <a:ext cx="292680" cy="293040"/>
            <a:chOff x="147960" y="3224160"/>
            <a:chExt cx="292680" cy="293040"/>
          </a:xfrm>
        </p:grpSpPr>
        <p:sp>
          <p:nvSpPr>
            <p:cNvPr id="285" name="Google Shape;285;p25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291" name="Google Shape;291;p25"/>
          <p:cNvCxnSpPr/>
          <p:nvPr/>
        </p:nvCxnSpPr>
        <p:spPr>
          <a:xfrm rot="10800000">
            <a:off x="7196760" y="294840"/>
            <a:ext cx="1157400" cy="5432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25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3" name="Google Shape;293;p25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294" name="Google Shape;294;p25"/>
            <p:cNvSpPr/>
            <p:nvPr/>
          </p:nvSpPr>
          <p:spPr>
            <a:xfrm>
              <a:off x="8068680" y="53208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8064360" y="52704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8141040" y="6044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8136720" y="59940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8219880" y="68292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8215200" y="67860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00" name="Google Shape;300;p25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301" name="Google Shape;301;p25"/>
            <p:cNvSpPr/>
            <p:nvPr/>
          </p:nvSpPr>
          <p:spPr>
            <a:xfrm>
              <a:off x="7039080" y="176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7034040" y="171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7100640" y="237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7096320" y="23328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05" name="Google Shape;305;p25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306" name="Google Shape;306;p25"/>
            <p:cNvSpPr/>
            <p:nvPr/>
          </p:nvSpPr>
          <p:spPr>
            <a:xfrm>
              <a:off x="8762400" y="2347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8758080" y="2296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799120" y="2710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8794080" y="2664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10" name="Google Shape;310;p25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311" name="Google Shape;311;p25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14" name="Google Shape;314;p25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315" name="Google Shape;315;p25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18" name="Google Shape;318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326" name="Google Shape;326;p1"/>
            <p:cNvSpPr/>
            <p:nvPr/>
          </p:nvSpPr>
          <p:spPr>
            <a:xfrm>
              <a:off x="389880" y="1506600"/>
              <a:ext cx="3972240" cy="3552480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507600" y="1506600"/>
              <a:ext cx="3815280" cy="3547800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3913920" y="3573720"/>
              <a:ext cx="587520" cy="1562400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1820880" y="3048120"/>
              <a:ext cx="1759320" cy="2094480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1820880" y="3225240"/>
              <a:ext cx="1611360" cy="1917720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3426480" y="3054600"/>
              <a:ext cx="148320" cy="2081880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3502440" y="4753440"/>
              <a:ext cx="72360" cy="383040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3497040" y="4747680"/>
              <a:ext cx="83160" cy="395280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3575160" y="4487400"/>
              <a:ext cx="313560" cy="649080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>
              <a:off x="3569040" y="4481640"/>
              <a:ext cx="325080" cy="66132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1045080" y="4753440"/>
              <a:ext cx="72360" cy="383040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1039680" y="4747680"/>
              <a:ext cx="83160" cy="395280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1117800" y="4487400"/>
              <a:ext cx="313560" cy="649080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1111680" y="4481640"/>
              <a:ext cx="325080" cy="66132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765720" y="4426560"/>
              <a:ext cx="3354120" cy="39456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1" name="Google Shape;341;p1"/>
            <p:cNvSpPr/>
            <p:nvPr/>
          </p:nvSpPr>
          <p:spPr>
            <a:xfrm>
              <a:off x="760320" y="4420440"/>
              <a:ext cx="3364920" cy="40608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766800" y="4426560"/>
              <a:ext cx="3352680" cy="369000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761040" y="4420080"/>
              <a:ext cx="3364920" cy="381600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3186720" y="4584960"/>
              <a:ext cx="500040" cy="14832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150" lIns="91425" spcFirstLastPara="1" rIns="91425" wrap="square" tIns="74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3180600" y="4579200"/>
              <a:ext cx="512280" cy="160200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0275" lIns="91425" spcFirstLastPara="1" rIns="91425" wrap="square" tIns="80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3661920" y="4426560"/>
              <a:ext cx="457560" cy="39456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3656520" y="4420440"/>
              <a:ext cx="468360" cy="406440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3274920" y="4437000"/>
              <a:ext cx="605160" cy="196920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3342960" y="4593240"/>
              <a:ext cx="173520" cy="1224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1200" lIns="91425" spcFirstLastPara="1" rIns="91425" wrap="square" tIns="6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3442680" y="4614480"/>
              <a:ext cx="47520" cy="82800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2013480" y="4534560"/>
              <a:ext cx="1338480" cy="219600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2007360" y="4529160"/>
              <a:ext cx="1350720" cy="231120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3084840" y="4528800"/>
              <a:ext cx="273240" cy="245160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2013480" y="4754880"/>
              <a:ext cx="1076400" cy="12960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2007360" y="4748400"/>
              <a:ext cx="1088640" cy="25920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232380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239544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225252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22874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23932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23220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246600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28216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24642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25372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29638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299880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28929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27507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260820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26794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>
              <a:off x="274896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>
              <a:off x="285660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4" name="Google Shape;374;p1"/>
            <p:cNvSpPr/>
            <p:nvPr/>
          </p:nvSpPr>
          <p:spPr>
            <a:xfrm>
              <a:off x="27140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25718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>
              <a:off x="27853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>
              <a:off x="25354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8" name="Google Shape;378;p1"/>
            <p:cNvSpPr/>
            <p:nvPr/>
          </p:nvSpPr>
          <p:spPr>
            <a:xfrm>
              <a:off x="2358360" y="4624560"/>
              <a:ext cx="117360" cy="4068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>
              <a:off x="25009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24296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26431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>
              <a:off x="26776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3" name="Google Shape;383;p1"/>
            <p:cNvSpPr/>
            <p:nvPr/>
          </p:nvSpPr>
          <p:spPr>
            <a:xfrm>
              <a:off x="30330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4" name="Google Shape;384;p1"/>
            <p:cNvSpPr/>
            <p:nvPr/>
          </p:nvSpPr>
          <p:spPr>
            <a:xfrm>
              <a:off x="260676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>
              <a:off x="28908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>
              <a:off x="296244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>
              <a:off x="29275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>
              <a:off x="281952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>
              <a:off x="264528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>
              <a:off x="271584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>
              <a:off x="257364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>
              <a:off x="278712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3" name="Google Shape;393;p1"/>
            <p:cNvSpPr/>
            <p:nvPr/>
          </p:nvSpPr>
          <p:spPr>
            <a:xfrm>
              <a:off x="250236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4" name="Google Shape;394;p1"/>
            <p:cNvSpPr/>
            <p:nvPr/>
          </p:nvSpPr>
          <p:spPr>
            <a:xfrm>
              <a:off x="2431800" y="4683240"/>
              <a:ext cx="117360" cy="40680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285804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2288880" y="4683240"/>
              <a:ext cx="118080" cy="40680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>
              <a:off x="236016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>
              <a:off x="3069360" y="4624560"/>
              <a:ext cx="118080" cy="4068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>
              <a:off x="31388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0" name="Google Shape;400;p1"/>
            <p:cNvSpPr/>
            <p:nvPr/>
          </p:nvSpPr>
          <p:spPr>
            <a:xfrm>
              <a:off x="31042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221832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292932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300060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>
              <a:off x="30351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221616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6" name="Google Shape;406;p1"/>
            <p:cNvSpPr/>
            <p:nvPr/>
          </p:nvSpPr>
          <p:spPr>
            <a:xfrm>
              <a:off x="271260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278316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8" name="Google Shape;408;p1"/>
            <p:cNvSpPr/>
            <p:nvPr/>
          </p:nvSpPr>
          <p:spPr>
            <a:xfrm>
              <a:off x="264096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28544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0" name="Google Shape;410;p1"/>
            <p:cNvSpPr/>
            <p:nvPr/>
          </p:nvSpPr>
          <p:spPr>
            <a:xfrm>
              <a:off x="29966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292536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2" name="Google Shape;412;p1"/>
            <p:cNvSpPr/>
            <p:nvPr/>
          </p:nvSpPr>
          <p:spPr>
            <a:xfrm>
              <a:off x="256968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21819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4" name="Google Shape;414;p1"/>
            <p:cNvSpPr/>
            <p:nvPr/>
          </p:nvSpPr>
          <p:spPr>
            <a:xfrm>
              <a:off x="2250720" y="4594680"/>
              <a:ext cx="118080" cy="4140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306792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6" name="Google Shape;416;p1"/>
            <p:cNvSpPr/>
            <p:nvPr/>
          </p:nvSpPr>
          <p:spPr>
            <a:xfrm>
              <a:off x="214668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22856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242748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2356200" y="4565880"/>
              <a:ext cx="118080" cy="4068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0" name="Google Shape;420;p1"/>
            <p:cNvSpPr/>
            <p:nvPr/>
          </p:nvSpPr>
          <p:spPr>
            <a:xfrm>
              <a:off x="249912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1" name="Google Shape;421;p1"/>
            <p:cNvSpPr/>
            <p:nvPr/>
          </p:nvSpPr>
          <p:spPr>
            <a:xfrm>
              <a:off x="3011400" y="4455360"/>
              <a:ext cx="434520" cy="50760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2" name="Google Shape;422;p1"/>
            <p:cNvSpPr/>
            <p:nvPr/>
          </p:nvSpPr>
          <p:spPr>
            <a:xfrm>
              <a:off x="3008160" y="4449960"/>
              <a:ext cx="441360" cy="6192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3" name="Google Shape;423;p1"/>
            <p:cNvSpPr/>
            <p:nvPr/>
          </p:nvSpPr>
          <p:spPr>
            <a:xfrm>
              <a:off x="3213720" y="4212000"/>
              <a:ext cx="67680" cy="27288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4" name="Google Shape;424;p1"/>
            <p:cNvSpPr/>
            <p:nvPr/>
          </p:nvSpPr>
          <p:spPr>
            <a:xfrm>
              <a:off x="3208320" y="4205520"/>
              <a:ext cx="79200" cy="28476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5" name="Google Shape;425;p1"/>
            <p:cNvSpPr/>
            <p:nvPr/>
          </p:nvSpPr>
          <p:spPr>
            <a:xfrm>
              <a:off x="3202920" y="4212000"/>
              <a:ext cx="89280" cy="19764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6" name="Google Shape;426;p1"/>
            <p:cNvSpPr/>
            <p:nvPr/>
          </p:nvSpPr>
          <p:spPr>
            <a:xfrm>
              <a:off x="3197520" y="4205520"/>
              <a:ext cx="100800" cy="20988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7" name="Google Shape;427;p1"/>
            <p:cNvSpPr/>
            <p:nvPr/>
          </p:nvSpPr>
          <p:spPr>
            <a:xfrm>
              <a:off x="2698920" y="3303000"/>
              <a:ext cx="1129680" cy="9288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8" name="Google Shape;428;p1"/>
            <p:cNvSpPr/>
            <p:nvPr/>
          </p:nvSpPr>
          <p:spPr>
            <a:xfrm>
              <a:off x="2693160" y="3297240"/>
              <a:ext cx="1141200" cy="93996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9" name="Google Shape;429;p1"/>
            <p:cNvSpPr/>
            <p:nvPr/>
          </p:nvSpPr>
          <p:spPr>
            <a:xfrm>
              <a:off x="2759040" y="3352320"/>
              <a:ext cx="1009080" cy="82944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0" name="Google Shape;430;p1"/>
            <p:cNvSpPr/>
            <p:nvPr/>
          </p:nvSpPr>
          <p:spPr>
            <a:xfrm>
              <a:off x="2753640" y="3346920"/>
              <a:ext cx="1019880" cy="84096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1" name="Google Shape;431;p1"/>
            <p:cNvSpPr/>
            <p:nvPr/>
          </p:nvSpPr>
          <p:spPr>
            <a:xfrm>
              <a:off x="2823120" y="3394800"/>
              <a:ext cx="353160" cy="233280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2" name="Google Shape;432;p1"/>
            <p:cNvSpPr/>
            <p:nvPr/>
          </p:nvSpPr>
          <p:spPr>
            <a:xfrm>
              <a:off x="2823120" y="3645360"/>
              <a:ext cx="353160" cy="232560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3" name="Google Shape;433;p1"/>
            <p:cNvSpPr/>
            <p:nvPr/>
          </p:nvSpPr>
          <p:spPr>
            <a:xfrm>
              <a:off x="2823120" y="3900600"/>
              <a:ext cx="353160" cy="233280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4" name="Google Shape;434;p1"/>
            <p:cNvSpPr/>
            <p:nvPr/>
          </p:nvSpPr>
          <p:spPr>
            <a:xfrm>
              <a:off x="3222360" y="33948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5" name="Google Shape;435;p1"/>
            <p:cNvSpPr/>
            <p:nvPr/>
          </p:nvSpPr>
          <p:spPr>
            <a:xfrm>
              <a:off x="3222360" y="365112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6" name="Google Shape;436;p1"/>
            <p:cNvSpPr/>
            <p:nvPr/>
          </p:nvSpPr>
          <p:spPr>
            <a:xfrm>
              <a:off x="2448360" y="3101400"/>
              <a:ext cx="434520" cy="50760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7" name="Google Shape;437;p1"/>
            <p:cNvSpPr/>
            <p:nvPr/>
          </p:nvSpPr>
          <p:spPr>
            <a:xfrm>
              <a:off x="2445120" y="3095640"/>
              <a:ext cx="442080" cy="61920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8" name="Google Shape;438;p1"/>
            <p:cNvSpPr/>
            <p:nvPr/>
          </p:nvSpPr>
          <p:spPr>
            <a:xfrm>
              <a:off x="2650680" y="2857680"/>
              <a:ext cx="68400" cy="27288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9" name="Google Shape;439;p1"/>
            <p:cNvSpPr/>
            <p:nvPr/>
          </p:nvSpPr>
          <p:spPr>
            <a:xfrm>
              <a:off x="2645280" y="2851560"/>
              <a:ext cx="79200" cy="28476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0" name="Google Shape;440;p1"/>
            <p:cNvSpPr/>
            <p:nvPr/>
          </p:nvSpPr>
          <p:spPr>
            <a:xfrm>
              <a:off x="2639880" y="2857680"/>
              <a:ext cx="90000" cy="19764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1" name="Google Shape;441;p1"/>
            <p:cNvSpPr/>
            <p:nvPr/>
          </p:nvSpPr>
          <p:spPr>
            <a:xfrm>
              <a:off x="2634480" y="2851560"/>
              <a:ext cx="100800" cy="210600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2" name="Google Shape;442;p1"/>
            <p:cNvSpPr/>
            <p:nvPr/>
          </p:nvSpPr>
          <p:spPr>
            <a:xfrm>
              <a:off x="2135880" y="1948680"/>
              <a:ext cx="1129680" cy="928800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3" name="Google Shape;443;p1"/>
            <p:cNvSpPr/>
            <p:nvPr/>
          </p:nvSpPr>
          <p:spPr>
            <a:xfrm>
              <a:off x="2130840" y="1942920"/>
              <a:ext cx="1140480" cy="939960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4" name="Google Shape;444;p1"/>
            <p:cNvSpPr/>
            <p:nvPr/>
          </p:nvSpPr>
          <p:spPr>
            <a:xfrm>
              <a:off x="2196720" y="1998360"/>
              <a:ext cx="1008360" cy="829440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5" name="Google Shape;445;p1"/>
            <p:cNvSpPr/>
            <p:nvPr/>
          </p:nvSpPr>
          <p:spPr>
            <a:xfrm>
              <a:off x="2190600" y="1992600"/>
              <a:ext cx="1020600" cy="84096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6" name="Google Shape;446;p1"/>
            <p:cNvSpPr/>
            <p:nvPr/>
          </p:nvSpPr>
          <p:spPr>
            <a:xfrm>
              <a:off x="2270160" y="2085120"/>
              <a:ext cx="421920" cy="20340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7" name="Google Shape;447;p1"/>
            <p:cNvSpPr/>
            <p:nvPr/>
          </p:nvSpPr>
          <p:spPr>
            <a:xfrm>
              <a:off x="2328840" y="2410560"/>
              <a:ext cx="693360" cy="8028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8" name="Google Shape;448;p1"/>
            <p:cNvSpPr/>
            <p:nvPr/>
          </p:nvSpPr>
          <p:spPr>
            <a:xfrm>
              <a:off x="2328840" y="2480760"/>
              <a:ext cx="693360" cy="8028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9" name="Google Shape;449;p1"/>
            <p:cNvSpPr/>
            <p:nvPr/>
          </p:nvSpPr>
          <p:spPr>
            <a:xfrm>
              <a:off x="2328840" y="2638440"/>
              <a:ext cx="693360" cy="7956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0" name="Google Shape;450;p1"/>
            <p:cNvSpPr/>
            <p:nvPr/>
          </p:nvSpPr>
          <p:spPr>
            <a:xfrm>
              <a:off x="2328840" y="2567880"/>
              <a:ext cx="693360" cy="80280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1" name="Google Shape;451;p1"/>
            <p:cNvSpPr/>
            <p:nvPr/>
          </p:nvSpPr>
          <p:spPr>
            <a:xfrm>
              <a:off x="3033720" y="2369520"/>
              <a:ext cx="63720" cy="6768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2" name="Google Shape;452;p1"/>
            <p:cNvSpPr/>
            <p:nvPr/>
          </p:nvSpPr>
          <p:spPr>
            <a:xfrm>
              <a:off x="3033720" y="2453040"/>
              <a:ext cx="63720" cy="6696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3" name="Google Shape;453;p1"/>
            <p:cNvSpPr/>
            <p:nvPr/>
          </p:nvSpPr>
          <p:spPr>
            <a:xfrm>
              <a:off x="3033720" y="2595960"/>
              <a:ext cx="63720" cy="66960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4" name="Google Shape;454;p1"/>
            <p:cNvSpPr/>
            <p:nvPr/>
          </p:nvSpPr>
          <p:spPr>
            <a:xfrm>
              <a:off x="3033720" y="2678760"/>
              <a:ext cx="63720" cy="6768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5" name="Google Shape;455;p1"/>
            <p:cNvSpPr/>
            <p:nvPr/>
          </p:nvSpPr>
          <p:spPr>
            <a:xfrm>
              <a:off x="2251800" y="2369520"/>
              <a:ext cx="63720" cy="6768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6" name="Google Shape;456;p1"/>
            <p:cNvSpPr/>
            <p:nvPr/>
          </p:nvSpPr>
          <p:spPr>
            <a:xfrm>
              <a:off x="2251800" y="2453040"/>
              <a:ext cx="63720" cy="6696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7" name="Google Shape;457;p1"/>
            <p:cNvSpPr/>
            <p:nvPr/>
          </p:nvSpPr>
          <p:spPr>
            <a:xfrm>
              <a:off x="2251800" y="2595960"/>
              <a:ext cx="63720" cy="66960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8" name="Google Shape;458;p1"/>
            <p:cNvSpPr/>
            <p:nvPr/>
          </p:nvSpPr>
          <p:spPr>
            <a:xfrm>
              <a:off x="2251800" y="2678760"/>
              <a:ext cx="63720" cy="6768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9" name="Google Shape;459;p1"/>
            <p:cNvSpPr/>
            <p:nvPr/>
          </p:nvSpPr>
          <p:spPr>
            <a:xfrm>
              <a:off x="2745360" y="207324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0" name="Google Shape;460;p1"/>
            <p:cNvSpPr/>
            <p:nvPr/>
          </p:nvSpPr>
          <p:spPr>
            <a:xfrm>
              <a:off x="1688400" y="4455360"/>
              <a:ext cx="434520" cy="50760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1" name="Google Shape;461;p1"/>
            <p:cNvSpPr/>
            <p:nvPr/>
          </p:nvSpPr>
          <p:spPr>
            <a:xfrm>
              <a:off x="1684800" y="4449960"/>
              <a:ext cx="441360" cy="6192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2" name="Google Shape;462;p1"/>
            <p:cNvSpPr/>
            <p:nvPr/>
          </p:nvSpPr>
          <p:spPr>
            <a:xfrm>
              <a:off x="1890360" y="4212000"/>
              <a:ext cx="67680" cy="27288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3" name="Google Shape;463;p1"/>
            <p:cNvSpPr/>
            <p:nvPr/>
          </p:nvSpPr>
          <p:spPr>
            <a:xfrm>
              <a:off x="1884960" y="4205520"/>
              <a:ext cx="79200" cy="28476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4" name="Google Shape;464;p1"/>
            <p:cNvSpPr/>
            <p:nvPr/>
          </p:nvSpPr>
          <p:spPr>
            <a:xfrm>
              <a:off x="1879560" y="4212000"/>
              <a:ext cx="89280" cy="19764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5" name="Google Shape;465;p1"/>
            <p:cNvSpPr/>
            <p:nvPr/>
          </p:nvSpPr>
          <p:spPr>
            <a:xfrm>
              <a:off x="1874160" y="4205520"/>
              <a:ext cx="100800" cy="20988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6" name="Google Shape;466;p1"/>
            <p:cNvSpPr/>
            <p:nvPr/>
          </p:nvSpPr>
          <p:spPr>
            <a:xfrm>
              <a:off x="1375920" y="3303000"/>
              <a:ext cx="1129680" cy="9288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7" name="Google Shape;467;p1"/>
            <p:cNvSpPr/>
            <p:nvPr/>
          </p:nvSpPr>
          <p:spPr>
            <a:xfrm>
              <a:off x="1369800" y="3297240"/>
              <a:ext cx="1141200" cy="93996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8" name="Google Shape;468;p1"/>
            <p:cNvSpPr/>
            <p:nvPr/>
          </p:nvSpPr>
          <p:spPr>
            <a:xfrm>
              <a:off x="1435680" y="3352320"/>
              <a:ext cx="1009080" cy="82944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9" name="Google Shape;469;p1"/>
            <p:cNvSpPr/>
            <p:nvPr/>
          </p:nvSpPr>
          <p:spPr>
            <a:xfrm>
              <a:off x="1430280" y="3346920"/>
              <a:ext cx="1019880" cy="84096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0" name="Google Shape;470;p1"/>
            <p:cNvSpPr/>
            <p:nvPr/>
          </p:nvSpPr>
          <p:spPr>
            <a:xfrm>
              <a:off x="1627560" y="33948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1" name="Google Shape;471;p1"/>
            <p:cNvSpPr/>
            <p:nvPr/>
          </p:nvSpPr>
          <p:spPr>
            <a:xfrm>
              <a:off x="1627560" y="3645360"/>
              <a:ext cx="353160" cy="232560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1627560" y="39006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3" name="Google Shape;473;p1"/>
            <p:cNvSpPr/>
            <p:nvPr/>
          </p:nvSpPr>
          <p:spPr>
            <a:xfrm>
              <a:off x="1622160" y="3895200"/>
              <a:ext cx="364680" cy="244440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4" name="Google Shape;474;p1"/>
            <p:cNvSpPr/>
            <p:nvPr/>
          </p:nvSpPr>
          <p:spPr>
            <a:xfrm>
              <a:off x="2026800" y="33948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2026800" y="365112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1940040" y="2957760"/>
              <a:ext cx="89280" cy="173160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6750" lIns="91425" spcFirstLastPara="1" rIns="91425" wrap="square" tIns="86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1422360" y="2669400"/>
              <a:ext cx="573480" cy="777600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1449000" y="2692440"/>
              <a:ext cx="419040" cy="693720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1785240" y="2770200"/>
              <a:ext cx="200880" cy="12276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61550" lIns="91425" spcFirstLastPara="1" rIns="91425" wrap="square" tIns="61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1416960" y="2663280"/>
              <a:ext cx="580680" cy="78984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1439640" y="2552400"/>
              <a:ext cx="687960" cy="627840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1451880" y="2546640"/>
              <a:ext cx="659520" cy="63936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3" name="Google Shape;483;p1"/>
            <p:cNvSpPr/>
            <p:nvPr/>
          </p:nvSpPr>
          <p:spPr>
            <a:xfrm>
              <a:off x="1551600" y="3013920"/>
              <a:ext cx="38880" cy="360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1608120" y="2719080"/>
              <a:ext cx="481320" cy="241920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1598760" y="2832840"/>
              <a:ext cx="236880" cy="27792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1703160" y="2985120"/>
              <a:ext cx="322200" cy="45720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1650600" y="2927520"/>
              <a:ext cx="106200" cy="218160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1649880" y="2921400"/>
              <a:ext cx="108000" cy="2304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889560" y="4812840"/>
              <a:ext cx="1654920" cy="32364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884160" y="4807080"/>
              <a:ext cx="1666440" cy="33588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1" name="Google Shape;491;p1"/>
            <p:cNvSpPr/>
            <p:nvPr/>
          </p:nvSpPr>
          <p:spPr>
            <a:xfrm>
              <a:off x="897480" y="3344760"/>
              <a:ext cx="930240" cy="162792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2" name="Google Shape;492;p1"/>
            <p:cNvSpPr/>
            <p:nvPr/>
          </p:nvSpPr>
          <p:spPr>
            <a:xfrm>
              <a:off x="919800" y="3372120"/>
              <a:ext cx="836640" cy="1594440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4777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3" name="Google Shape;493;p1"/>
            <p:cNvSpPr/>
            <p:nvPr/>
          </p:nvSpPr>
          <p:spPr>
            <a:xfrm>
              <a:off x="1204200" y="3812400"/>
              <a:ext cx="124920" cy="343440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4" name="Google Shape;494;p1"/>
            <p:cNvSpPr/>
            <p:nvPr/>
          </p:nvSpPr>
          <p:spPr>
            <a:xfrm>
              <a:off x="1482840" y="4151520"/>
              <a:ext cx="131760" cy="1404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1"/>
            <p:cNvSpPr/>
            <p:nvPr/>
          </p:nvSpPr>
          <p:spPr>
            <a:xfrm>
              <a:off x="1402560" y="4298040"/>
              <a:ext cx="221760" cy="34920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1"/>
            <p:cNvSpPr/>
            <p:nvPr/>
          </p:nvSpPr>
          <p:spPr>
            <a:xfrm>
              <a:off x="1369800" y="4730760"/>
              <a:ext cx="318240" cy="245520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1"/>
            <p:cNvSpPr/>
            <p:nvPr/>
          </p:nvSpPr>
          <p:spPr>
            <a:xfrm>
              <a:off x="908280" y="3338640"/>
              <a:ext cx="916920" cy="164016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8" name="Google Shape;498;p1"/>
            <p:cNvSpPr/>
            <p:nvPr/>
          </p:nvSpPr>
          <p:spPr>
            <a:xfrm>
              <a:off x="1320480" y="3265560"/>
              <a:ext cx="479160" cy="32724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9" name="Google Shape;499;p1"/>
            <p:cNvSpPr/>
            <p:nvPr/>
          </p:nvSpPr>
          <p:spPr>
            <a:xfrm>
              <a:off x="1320480" y="3265560"/>
              <a:ext cx="351720" cy="218880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0" name="Google Shape;500;p1"/>
            <p:cNvSpPr/>
            <p:nvPr/>
          </p:nvSpPr>
          <p:spPr>
            <a:xfrm>
              <a:off x="1314360" y="3259800"/>
              <a:ext cx="491400" cy="33912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1" name="Google Shape;501;p1"/>
            <p:cNvSpPr/>
            <p:nvPr/>
          </p:nvSpPr>
          <p:spPr>
            <a:xfrm>
              <a:off x="2395440" y="4354560"/>
              <a:ext cx="444960" cy="326880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2" name="Google Shape;502;p1"/>
            <p:cNvSpPr/>
            <p:nvPr/>
          </p:nvSpPr>
          <p:spPr>
            <a:xfrm>
              <a:off x="2390040" y="4349160"/>
              <a:ext cx="446040" cy="33768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3" name="Google Shape;503;p1"/>
            <p:cNvSpPr/>
            <p:nvPr/>
          </p:nvSpPr>
          <p:spPr>
            <a:xfrm>
              <a:off x="2625480" y="4393080"/>
              <a:ext cx="140400" cy="70560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4" name="Google Shape;504;p1"/>
            <p:cNvSpPr/>
            <p:nvPr/>
          </p:nvSpPr>
          <p:spPr>
            <a:xfrm>
              <a:off x="2558160" y="4397400"/>
              <a:ext cx="51480" cy="3852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5" name="Google Shape;505;p1"/>
            <p:cNvSpPr/>
            <p:nvPr/>
          </p:nvSpPr>
          <p:spPr>
            <a:xfrm>
              <a:off x="1913040" y="4345920"/>
              <a:ext cx="390600" cy="24840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6" name="Google Shape;506;p1"/>
            <p:cNvSpPr/>
            <p:nvPr/>
          </p:nvSpPr>
          <p:spPr>
            <a:xfrm>
              <a:off x="1915920" y="4340160"/>
              <a:ext cx="383400" cy="259920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7" name="Google Shape;507;p1"/>
            <p:cNvSpPr/>
            <p:nvPr/>
          </p:nvSpPr>
          <p:spPr>
            <a:xfrm>
              <a:off x="2120040" y="4376880"/>
              <a:ext cx="73080" cy="47880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8" name="Google Shape;508;p1"/>
            <p:cNvSpPr/>
            <p:nvPr/>
          </p:nvSpPr>
          <p:spPr>
            <a:xfrm>
              <a:off x="2065320" y="4358520"/>
              <a:ext cx="56160" cy="432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9" name="Google Shape;509;p1"/>
            <p:cNvSpPr/>
            <p:nvPr/>
          </p:nvSpPr>
          <p:spPr>
            <a:xfrm>
              <a:off x="1517760" y="3611520"/>
              <a:ext cx="1005120" cy="142812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0" name="Google Shape;510;p1"/>
            <p:cNvSpPr/>
            <p:nvPr/>
          </p:nvSpPr>
          <p:spPr>
            <a:xfrm>
              <a:off x="1530000" y="3647520"/>
              <a:ext cx="986400" cy="1392120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4777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1" name="Google Shape;511;p1"/>
            <p:cNvSpPr/>
            <p:nvPr/>
          </p:nvSpPr>
          <p:spPr>
            <a:xfrm>
              <a:off x="1524600" y="3605400"/>
              <a:ext cx="994320" cy="1440360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2" name="Google Shape;512;p1"/>
            <p:cNvSpPr/>
            <p:nvPr/>
          </p:nvSpPr>
          <p:spPr>
            <a:xfrm>
              <a:off x="2356920" y="4566240"/>
              <a:ext cx="115560" cy="162000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3" name="Google Shape;513;p1"/>
            <p:cNvSpPr/>
            <p:nvPr/>
          </p:nvSpPr>
          <p:spPr>
            <a:xfrm>
              <a:off x="485640" y="3294000"/>
              <a:ext cx="868320" cy="1842120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4" name="Google Shape;514;p1"/>
            <p:cNvSpPr/>
            <p:nvPr/>
          </p:nvSpPr>
          <p:spPr>
            <a:xfrm>
              <a:off x="479520" y="3288600"/>
              <a:ext cx="880560" cy="18540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5" name="Google Shape;515;p1"/>
            <p:cNvSpPr/>
            <p:nvPr/>
          </p:nvSpPr>
          <p:spPr>
            <a:xfrm>
              <a:off x="154080" y="3270600"/>
              <a:ext cx="1149840" cy="1865880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6" name="Google Shape;516;p1"/>
            <p:cNvSpPr/>
            <p:nvPr/>
          </p:nvSpPr>
          <p:spPr>
            <a:xfrm>
              <a:off x="150840" y="3264840"/>
              <a:ext cx="1158480" cy="187812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7" name="Google Shape;517;p1"/>
            <p:cNvSpPr/>
            <p:nvPr/>
          </p:nvSpPr>
          <p:spPr>
            <a:xfrm>
              <a:off x="519120" y="5136840"/>
              <a:ext cx="4047120" cy="360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8" name="Google Shape;518;p1"/>
            <p:cNvSpPr/>
            <p:nvPr/>
          </p:nvSpPr>
          <p:spPr>
            <a:xfrm>
              <a:off x="513000" y="5131080"/>
              <a:ext cx="4058280" cy="11520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19" name="Google Shape;519;p1"/>
          <p:cNvSpPr/>
          <p:nvPr/>
        </p:nvSpPr>
        <p:spPr>
          <a:xfrm>
            <a:off x="4572000" y="1847880"/>
            <a:ext cx="4086000" cy="10369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949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PHÁT HIỆN GIAO DỊCH TÀI CHÍNH BẤT THƯỜNG VÀ NGHI VẤN GIAN LẬN</a:t>
            </a:r>
            <a:endParaRPr/>
          </a:p>
        </p:txBody>
      </p:sp>
      <p:sp>
        <p:nvSpPr>
          <p:cNvPr id="520" name="Google Shape;520;p1"/>
          <p:cNvSpPr/>
          <p:nvPr/>
        </p:nvSpPr>
        <p:spPr>
          <a:xfrm>
            <a:off x="4622925" y="3067295"/>
            <a:ext cx="40860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65" u="none" cap="none" strike="noStrike">
                <a:solidFill>
                  <a:srgbClr val="77C6FC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Designing, evaluating and operating models for credit-card transaction fraud detection</a:t>
            </a:r>
            <a:endParaRPr b="0" i="0" sz="1665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2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526" name="Google Shape;526;p2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7" name="Google Shape;527;p2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28" name="Google Shape;528;p2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529" name="Google Shape;529;p2"/>
            <p:cNvSpPr/>
            <p:nvPr/>
          </p:nvSpPr>
          <p:spPr>
            <a:xfrm>
              <a:off x="4276440" y="1073520"/>
              <a:ext cx="591120" cy="587880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0" name="Google Shape;530;p2"/>
            <p:cNvSpPr/>
            <p:nvPr/>
          </p:nvSpPr>
          <p:spPr>
            <a:xfrm>
              <a:off x="4616640" y="1189440"/>
              <a:ext cx="156600" cy="1566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475" lIns="91425" spcFirstLastPara="1" rIns="91425" wrap="square" tIns="78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1" name="Google Shape;531;p2"/>
            <p:cNvSpPr/>
            <p:nvPr/>
          </p:nvSpPr>
          <p:spPr>
            <a:xfrm>
              <a:off x="4563360" y="1504800"/>
              <a:ext cx="19080" cy="2916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2" name="Google Shape;532;p2"/>
            <p:cNvSpPr/>
            <p:nvPr/>
          </p:nvSpPr>
          <p:spPr>
            <a:xfrm>
              <a:off x="4416480" y="1182960"/>
              <a:ext cx="165960" cy="30204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3" name="Google Shape;533;p2"/>
            <p:cNvSpPr/>
            <p:nvPr/>
          </p:nvSpPr>
          <p:spPr>
            <a:xfrm>
              <a:off x="4759200" y="1436400"/>
              <a:ext cx="68400" cy="1908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4" name="Google Shape;534;p2"/>
            <p:cNvSpPr/>
            <p:nvPr/>
          </p:nvSpPr>
          <p:spPr>
            <a:xfrm>
              <a:off x="4743360" y="1487520"/>
              <a:ext cx="70920" cy="6372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5" name="Google Shape;535;p2"/>
            <p:cNvSpPr/>
            <p:nvPr/>
          </p:nvSpPr>
          <p:spPr>
            <a:xfrm>
              <a:off x="4700520" y="1514880"/>
              <a:ext cx="19080" cy="68400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00" lIns="91425" spcFirstLastPara="1" rIns="91425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6" name="Google Shape;536;p2"/>
            <p:cNvSpPr/>
            <p:nvPr/>
          </p:nvSpPr>
          <p:spPr>
            <a:xfrm>
              <a:off x="4286520" y="1221120"/>
              <a:ext cx="82800" cy="38160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7" name="Google Shape;537;p2"/>
            <p:cNvSpPr/>
            <p:nvPr/>
          </p:nvSpPr>
          <p:spPr>
            <a:xfrm>
              <a:off x="4303080" y="1124640"/>
              <a:ext cx="79560" cy="64440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8" name="Google Shape;538;p2"/>
            <p:cNvSpPr/>
            <p:nvPr/>
          </p:nvSpPr>
          <p:spPr>
            <a:xfrm>
              <a:off x="4386960" y="1071000"/>
              <a:ext cx="38520" cy="82800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39" name="Google Shape;539;p2"/>
          <p:cNvSpPr/>
          <p:nvPr/>
        </p:nvSpPr>
        <p:spPr>
          <a:xfrm>
            <a:off x="1790640" y="2476440"/>
            <a:ext cx="5552640" cy="35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0">
                <a:latin typeface="Noto Sans Symbols"/>
                <a:ea typeface="Noto Sans Symbols"/>
                <a:cs typeface="Noto Sans Symbols"/>
                <a:sym typeface="Noto Sans Symbols"/>
              </a:rPr>
              <a:t>Nhóm 5</a:t>
            </a:r>
            <a:endParaRPr/>
          </a:p>
        </p:txBody>
      </p:sp>
      <p:sp>
        <p:nvSpPr>
          <p:cNvPr id="540" name="Google Shape;540;p2"/>
          <p:cNvSpPr/>
          <p:nvPr/>
        </p:nvSpPr>
        <p:spPr>
          <a:xfrm>
            <a:off x="2199711" y="3099250"/>
            <a:ext cx="4744200" cy="2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Huỳnh Trường An 		MSSV: 25730004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Lê Vân Anh 			MSSV: 25730008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Trương Nam Anh 		MSSV: 25730010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Ngô Thị Vân Giang</a:t>
            </a:r>
            <a:r>
              <a:rPr lang="en-US" sz="1600"/>
              <a:t> 		</a:t>
            </a:r>
            <a:r>
              <a:rPr lang="en-US" sz="1600"/>
              <a:t>MSSV: 25730020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Bùi Thi Hoàng 			MSSV: 25730029</a:t>
            </a:r>
            <a:endParaRPr sz="1600"/>
          </a:p>
        </p:txBody>
      </p:sp>
      <p:sp>
        <p:nvSpPr>
          <p:cNvPr id="541" name="Google Shape;54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3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547" name="Google Shape;547;p3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3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757" name="Google Shape;757;p3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758" name="Google Shape;758;p3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3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0" name="Google Shape;760;p3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761" name="Google Shape;761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4" name="Google Shape;764;p3"/>
          <p:cNvGrpSpPr/>
          <p:nvPr/>
        </p:nvGrpSpPr>
        <p:grpSpPr>
          <a:xfrm>
            <a:off x="731647" y="1650460"/>
            <a:ext cx="635100" cy="733491"/>
            <a:chOff x="731647" y="1650460"/>
            <a:chExt cx="635100" cy="733491"/>
          </a:xfrm>
        </p:grpSpPr>
        <p:grpSp>
          <p:nvGrpSpPr>
            <p:cNvPr id="765" name="Google Shape;765;p3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766" name="Google Shape;766;p3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3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8" name="Google Shape;768;p3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769" name="Google Shape;769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2" name="Google Shape;772;p3"/>
          <p:cNvGrpSpPr/>
          <p:nvPr/>
        </p:nvGrpSpPr>
        <p:grpSpPr>
          <a:xfrm>
            <a:off x="731647" y="2728277"/>
            <a:ext cx="635100" cy="734983"/>
            <a:chOff x="731647" y="2728277"/>
            <a:chExt cx="635100" cy="734983"/>
          </a:xfrm>
        </p:grpSpPr>
        <p:grpSp>
          <p:nvGrpSpPr>
            <p:cNvPr id="773" name="Google Shape;773;p3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774" name="Google Shape;774;p3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3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6" name="Google Shape;776;p3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777" name="Google Shape;777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0" name="Google Shape;780;p3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781" name="Google Shape;781;p3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782" name="Google Shape;782;p3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3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4" name="Google Shape;784;p3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785" name="Google Shape;785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88" name="Google Shape;788;p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789" name="Google Shape;789;p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Phân tích mô tả dữ liệu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 sz="1800">
                <a:solidFill>
                  <a:schemeClr val="accent1"/>
                </a:solidFill>
              </a:rPr>
              <a:t>Analysis</a:t>
            </a:r>
            <a:endParaRPr/>
          </a:p>
        </p:txBody>
      </p:sp>
      <p:sp>
        <p:nvSpPr>
          <p:cNvPr id="791" name="Google Shape;791;p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 sz="1800">
                <a:solidFill>
                  <a:schemeClr val="accent1"/>
                </a:solidFill>
              </a:rPr>
              <a:t>Build Model</a:t>
            </a:r>
            <a:endParaRPr/>
          </a:p>
        </p:txBody>
      </p:sp>
      <p:sp>
        <p:nvSpPr>
          <p:cNvPr id="792" name="Google Shape;792;p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Xây dựng Random Forest, XGBoost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Result Analysis</a:t>
            </a:r>
            <a:endParaRPr/>
          </a:p>
        </p:txBody>
      </p:sp>
      <p:sp>
        <p:nvSpPr>
          <p:cNvPr id="794" name="Google Shape;794;p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Phân tích kết quả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796" name="Google Shape;796;p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Đánh giá và hướng phát triển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98" name="Google Shape;798;p3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99" name="Google Shape;799;p3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800" name="Google Shape;800;p3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801" name="Google Shape;80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4700"/>
              <a:t>Analysis</a:t>
            </a:r>
            <a:endParaRPr/>
          </a:p>
        </p:txBody>
      </p:sp>
      <p:sp>
        <p:nvSpPr>
          <p:cNvPr id="807" name="Google Shape;807;p4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808" name="Google Shape;808;p4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Phân tích dữ liệu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"/>
          <p:cNvSpPr/>
          <p:nvPr/>
        </p:nvSpPr>
        <p:spPr>
          <a:xfrm>
            <a:off x="476280" y="380880"/>
            <a:ext cx="819108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49494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Tổng quan dữ liệu</a:t>
            </a:r>
            <a:endParaRPr i="0" sz="3200" u="none" cap="none" strike="noStrike">
              <a:solidFill>
                <a:srgbClr val="49494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15" name="Google Shape;815;p5"/>
          <p:cNvSpPr/>
          <p:nvPr/>
        </p:nvSpPr>
        <p:spPr>
          <a:xfrm>
            <a:off x="283240" y="1252220"/>
            <a:ext cx="2095080" cy="131953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2060"/>
                </a:solidFill>
                <a:latin typeface="Manrope"/>
                <a:ea typeface="Manrope"/>
                <a:cs typeface="Manrope"/>
                <a:sym typeface="Manrope"/>
              </a:rPr>
              <a:t>30,058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Giao dịch</a:t>
            </a:r>
            <a:endParaRPr i="0" sz="17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6" name="Google Shape;816;p5"/>
          <p:cNvSpPr/>
          <p:nvPr/>
        </p:nvSpPr>
        <p:spPr>
          <a:xfrm>
            <a:off x="2465520" y="1252220"/>
            <a:ext cx="2095080" cy="131953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2060"/>
                </a:solidFill>
                <a:latin typeface="Manrope"/>
                <a:ea typeface="Manrope"/>
                <a:cs typeface="Manrope"/>
                <a:sym typeface="Manrope"/>
              </a:rPr>
              <a:t>23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Cột thuộc tính</a:t>
            </a:r>
            <a:endParaRPr i="0" sz="17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7" name="Google Shape;817;p5"/>
          <p:cNvSpPr/>
          <p:nvPr/>
        </p:nvSpPr>
        <p:spPr>
          <a:xfrm>
            <a:off x="4647800" y="1283970"/>
            <a:ext cx="2095080" cy="131953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002060"/>
                </a:solidFill>
                <a:latin typeface="Manrope"/>
                <a:ea typeface="Manrope"/>
                <a:cs typeface="Manrope"/>
                <a:sym typeface="Manrope"/>
              </a:rPr>
              <a:t>29,925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Giao dịch hợp lệ</a:t>
            </a:r>
            <a:endParaRPr i="0" sz="17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8" name="Google Shape;818;p5"/>
          <p:cNvSpPr/>
          <p:nvPr/>
        </p:nvSpPr>
        <p:spPr>
          <a:xfrm>
            <a:off x="6830080" y="1283970"/>
            <a:ext cx="2095080" cy="131953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C00000"/>
                </a:solidFill>
                <a:latin typeface="Manrope"/>
                <a:ea typeface="Manrope"/>
                <a:cs typeface="Manrope"/>
                <a:sym typeface="Manrope"/>
              </a:rPr>
              <a:t>133</a:t>
            </a:r>
            <a:endParaRPr>
              <a:solidFill>
                <a:srgbClr val="C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Giao dịch gian lận</a:t>
            </a:r>
            <a:endParaRPr i="0" sz="17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9" name="Google Shape;819;p5"/>
          <p:cNvSpPr txBox="1"/>
          <p:nvPr/>
        </p:nvSpPr>
        <p:spPr>
          <a:xfrm>
            <a:off x="1024675" y="4749850"/>
            <a:ext cx="6756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7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5B6577"/>
                </a:solidFill>
                <a:latin typeface="Calibri"/>
                <a:ea typeface="Calibri"/>
                <a:cs typeface="Calibri"/>
                <a:sym typeface="Calibri"/>
              </a:rPr>
              <a:t>Dữ liệu ghi nhận từ 21/06 đến 30/06/2020</a:t>
            </a:r>
            <a:endParaRPr sz="1200">
              <a:solidFill>
                <a:srgbClr val="5B65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7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5B6577"/>
                </a:solidFill>
                <a:latin typeface="Calibri"/>
                <a:ea typeface="Calibri"/>
                <a:cs typeface="Calibri"/>
                <a:sym typeface="Calibri"/>
              </a:rPr>
              <a:t>23 cột gồm thời gian, merchant, category, </a:t>
            </a:r>
            <a:r>
              <a:rPr lang="en-US" sz="1200">
                <a:solidFill>
                  <a:srgbClr val="5B6577"/>
                </a:solidFill>
                <a:latin typeface="Calibri"/>
                <a:ea typeface="Calibri"/>
                <a:cs typeface="Calibri"/>
                <a:sym typeface="Calibri"/>
              </a:rPr>
              <a:t>số tiền giao dịch</a:t>
            </a:r>
            <a:r>
              <a:rPr b="0" i="0" lang="en-US" sz="1200" u="none" cap="none" strike="noStrike">
                <a:solidFill>
                  <a:srgbClr val="5B6577"/>
                </a:solidFill>
                <a:latin typeface="Calibri"/>
                <a:ea typeface="Calibri"/>
                <a:cs typeface="Calibri"/>
                <a:sym typeface="Calibri"/>
              </a:rPr>
              <a:t>, thông tin chủ thẻ, vị trí và nhãn.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"/>
          <p:cNvSpPr/>
          <p:nvPr/>
        </p:nvSpPr>
        <p:spPr>
          <a:xfrm>
            <a:off x="1024675" y="2976903"/>
            <a:ext cx="548700" cy="548700"/>
          </a:xfrm>
          <a:prstGeom prst="ellipse">
            <a:avLst/>
          </a:prstGeom>
          <a:solidFill>
            <a:srgbClr val="C62839"/>
          </a:solidFill>
          <a:ln cap="flat" cmpd="sng" w="12700">
            <a:solidFill>
              <a:srgbClr val="C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1" name="Google Shape;8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835" y="311406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5"/>
          <p:cNvSpPr txBox="1"/>
          <p:nvPr/>
        </p:nvSpPr>
        <p:spPr>
          <a:xfrm>
            <a:off x="1639012" y="2879100"/>
            <a:ext cx="390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Lớp lớn gấp khoảng 225 lần lớp nhỏ =&gt; dữ liệu mất cân bằng</a:t>
            </a:r>
            <a:endParaRPr sz="1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3" name="Google Shape;82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4" name="Google Shape;824;p5"/>
          <p:cNvSpPr txBox="1"/>
          <p:nvPr/>
        </p:nvSpPr>
        <p:spPr>
          <a:xfrm>
            <a:off x="1024663" y="3814475"/>
            <a:ext cx="781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-"/>
            </a:pPr>
            <a:r>
              <a:rPr lang="en-US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Input: các đặc trưng về hành vi </a:t>
            </a:r>
            <a:endParaRPr sz="1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-"/>
            </a:pPr>
            <a:r>
              <a:rPr lang="en-US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Output: nhãn gian lận / hợp lệ</a:t>
            </a:r>
            <a:endParaRPr sz="1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"/>
          <p:cNvSpPr/>
          <p:nvPr/>
        </p:nvSpPr>
        <p:spPr>
          <a:xfrm>
            <a:off x="476280" y="380880"/>
            <a:ext cx="819108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none" strike="noStrike">
                <a:solidFill>
                  <a:srgbClr val="49494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Fraud tập trung ở vài loại dịch vụ</a:t>
            </a:r>
            <a:endParaRPr sz="3200" u="none" strike="noStrike">
              <a:solidFill>
                <a:srgbClr val="49494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aphicFrame>
        <p:nvGraphicFramePr>
          <p:cNvPr id="831" name="Google Shape;831;p6"/>
          <p:cNvGraphicFramePr/>
          <p:nvPr/>
        </p:nvGraphicFramePr>
        <p:xfrm>
          <a:off x="723900" y="1562100"/>
          <a:ext cx="5166300" cy="3055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32" name="Google Shape;832;p6"/>
          <p:cNvSpPr txBox="1"/>
          <p:nvPr/>
        </p:nvSpPr>
        <p:spPr>
          <a:xfrm>
            <a:off x="476280" y="124206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C2E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11C2E"/>
                </a:solidFill>
                <a:latin typeface="Calibri"/>
                <a:ea typeface="Calibri"/>
                <a:cs typeface="Calibri"/>
                <a:sym typeface="Calibri"/>
              </a:rPr>
              <a:t>Tỷ lệ fraud theo category (10 nhóm cao nhất)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"/>
          <p:cNvSpPr/>
          <p:nvPr/>
        </p:nvSpPr>
        <p:spPr>
          <a:xfrm>
            <a:off x="5890150" y="1260156"/>
            <a:ext cx="3025200" cy="1070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6"/>
          <p:cNvSpPr/>
          <p:nvPr/>
        </p:nvSpPr>
        <p:spPr>
          <a:xfrm>
            <a:off x="5897875" y="2537447"/>
            <a:ext cx="3025200" cy="1176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6"/>
          <p:cNvSpPr/>
          <p:nvPr/>
        </p:nvSpPr>
        <p:spPr>
          <a:xfrm>
            <a:off x="5913125" y="3911952"/>
            <a:ext cx="3025200" cy="1070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6"/>
          <p:cNvSpPr txBox="1"/>
          <p:nvPr/>
        </p:nvSpPr>
        <p:spPr>
          <a:xfrm>
            <a:off x="6057795" y="1176330"/>
            <a:ext cx="2712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39"/>
              </a:buClr>
              <a:buSzPts val="2800"/>
              <a:buFont typeface="Cambria"/>
              <a:buNone/>
            </a:pPr>
            <a:r>
              <a:rPr b="1" lang="en-US" sz="2400">
                <a:solidFill>
                  <a:srgbClr val="C62839"/>
                </a:solidFill>
                <a:latin typeface="Manrope"/>
                <a:ea typeface="Manrope"/>
                <a:cs typeface="Manrope"/>
                <a:sym typeface="Manrope"/>
              </a:rPr>
              <a:t>62%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7" name="Google Shape;837;p6"/>
          <p:cNvSpPr txBox="1"/>
          <p:nvPr/>
        </p:nvSpPr>
        <p:spPr>
          <a:xfrm>
            <a:off x="6057795" y="1724970"/>
            <a:ext cx="26745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5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B3548"/>
                </a:solidFill>
                <a:latin typeface="Manrope"/>
                <a:ea typeface="Manrope"/>
                <a:cs typeface="Manrope"/>
                <a:sym typeface="Manrope"/>
              </a:rPr>
              <a:t>Ba nhóm đầu (shopping_net, misc_net, grocery_pos) chiếm 82/133 vụ fraud</a:t>
            </a:r>
            <a:endParaRPr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8" name="Google Shape;838;p6"/>
          <p:cNvSpPr txBox="1"/>
          <p:nvPr/>
        </p:nvSpPr>
        <p:spPr>
          <a:xfrm>
            <a:off x="6069574" y="2567940"/>
            <a:ext cx="2712291" cy="496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5"/>
              </a:buClr>
              <a:buSzPts val="2800"/>
              <a:buFont typeface="Cambria"/>
              <a:buNone/>
            </a:pPr>
            <a:r>
              <a:rPr b="1" lang="en-US" sz="2400">
                <a:solidFill>
                  <a:srgbClr val="1B2A45"/>
                </a:solidFill>
                <a:latin typeface="Cambria"/>
                <a:ea typeface="Cambria"/>
                <a:cs typeface="Cambria"/>
                <a:sym typeface="Cambria"/>
              </a:rPr>
              <a:t>1.43%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6"/>
          <p:cNvSpPr txBox="1"/>
          <p:nvPr/>
        </p:nvSpPr>
        <p:spPr>
          <a:xfrm>
            <a:off x="6065520" y="3006907"/>
            <a:ext cx="2674620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5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B3548"/>
                </a:solidFill>
                <a:latin typeface="Manrope"/>
                <a:ea typeface="Manrope"/>
                <a:cs typeface="Manrope"/>
                <a:sym typeface="Manrope"/>
              </a:rPr>
              <a:t>shopping_net cao nhất (33/2,302) so với 0.18% của personal_care (4/2,220)</a:t>
            </a:r>
            <a:endParaRPr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0" name="Google Shape;840;p6"/>
          <p:cNvSpPr txBox="1"/>
          <p:nvPr/>
        </p:nvSpPr>
        <p:spPr>
          <a:xfrm>
            <a:off x="6065495" y="3876017"/>
            <a:ext cx="2712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7A69"/>
              </a:buClr>
              <a:buSzPts val="2800"/>
              <a:buFont typeface="Cambria"/>
              <a:buNone/>
            </a:pPr>
            <a:r>
              <a:rPr b="1" lang="en-US" sz="2400">
                <a:solidFill>
                  <a:srgbClr val="167A69"/>
                </a:solidFill>
                <a:latin typeface="Cambria"/>
                <a:ea typeface="Cambria"/>
                <a:cs typeface="Cambria"/>
                <a:sym typeface="Cambria"/>
              </a:rPr>
              <a:t>p = 1.3e-23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"/>
          <p:cNvSpPr txBox="1"/>
          <p:nvPr/>
        </p:nvSpPr>
        <p:spPr>
          <a:xfrm>
            <a:off x="6065500" y="4350099"/>
            <a:ext cx="26745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5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B3548"/>
                </a:solidFill>
                <a:latin typeface="Manrope"/>
                <a:ea typeface="Manrope"/>
                <a:cs typeface="Manrope"/>
                <a:sym typeface="Manrope"/>
              </a:rPr>
              <a:t>Kiểm định Chi-square: category liên quan có ý nghĩa thống kê với fraud</a:t>
            </a:r>
            <a:endParaRPr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2" name="Google Shape;84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"/>
          <p:cNvSpPr/>
          <p:nvPr/>
        </p:nvSpPr>
        <p:spPr>
          <a:xfrm>
            <a:off x="476280" y="380880"/>
            <a:ext cx="819108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11C2E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Outlier chứa phần lớn giao dịch gian lận</a:t>
            </a:r>
            <a:endParaRPr sz="30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aphicFrame>
        <p:nvGraphicFramePr>
          <p:cNvPr id="848" name="Google Shape;848;p8"/>
          <p:cNvGraphicFramePr/>
          <p:nvPr/>
        </p:nvGraphicFramePr>
        <p:xfrm>
          <a:off x="806337" y="32069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{B33587EA-A013-42EB-B199-8143FAD96103}</a:tableStyleId>
              </a:tblPr>
              <a:tblGrid>
                <a:gridCol w="1975900"/>
                <a:gridCol w="1679500"/>
                <a:gridCol w="1877100"/>
                <a:gridCol w="1877100"/>
              </a:tblGrid>
              <a:tr h="48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Đặc trưng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Ngưỡng trên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Số outlier (tỷ lệ)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Fraud trong outlier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5"/>
                    </a:solidFill>
                  </a:tcPr>
                </a:tc>
              </a:tr>
              <a:tr h="3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192.16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1,521 (5.06%)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39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628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 / 133 (78%)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CEE"/>
                    </a:solidFill>
                  </a:tcPr>
                </a:tc>
              </a:tr>
              <a:tr h="3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txn_freq_hour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1,806 (6.01%)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distance_km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23,333.02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(0%)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35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49" name="Google Shape;849;p8"/>
          <p:cNvPicPr preferRelativeResize="0"/>
          <p:nvPr/>
        </p:nvPicPr>
        <p:blipFill rotWithShape="1">
          <a:blip r:embed="rId3">
            <a:alphaModFix/>
          </a:blip>
          <a:srcRect b="0" l="0" r="0" t="16604"/>
          <a:stretch/>
        </p:blipFill>
        <p:spPr>
          <a:xfrm>
            <a:off x="753413" y="1226976"/>
            <a:ext cx="7637176" cy="16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fbbef6187f_0_0"/>
          <p:cNvSpPr/>
          <p:nvPr/>
        </p:nvSpPr>
        <p:spPr>
          <a:xfrm>
            <a:off x="782575" y="292125"/>
            <a:ext cx="78849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rPr>
              <a:t>Phân bố dữ liệu</a:t>
            </a:r>
            <a:endParaRPr b="1" sz="2000" u="none" strike="noStrike">
              <a:solidFill>
                <a:srgbClr val="4949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g3fbbef6187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300" y="1103425"/>
            <a:ext cx="3366389" cy="177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g3fbbef6187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575" y="3121875"/>
            <a:ext cx="3435124" cy="1784565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g3fbbef6187f_0_0"/>
          <p:cNvSpPr/>
          <p:nvPr/>
        </p:nvSpPr>
        <p:spPr>
          <a:xfrm>
            <a:off x="4843250" y="3631363"/>
            <a:ext cx="3251700" cy="765600"/>
          </a:xfrm>
          <a:prstGeom prst="roundRect">
            <a:avLst>
              <a:gd fmla="val 8571" name="adj"/>
            </a:avLst>
          </a:prstGeom>
          <a:solidFill>
            <a:srgbClr val="F3F5F9"/>
          </a:solidFill>
          <a:ln cap="flat" cmpd="sng" w="12700">
            <a:solidFill>
              <a:srgbClr val="F3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fbbef6187f_0_0"/>
          <p:cNvSpPr txBox="1"/>
          <p:nvPr/>
        </p:nvSpPr>
        <p:spPr>
          <a:xfrm>
            <a:off x="5716623" y="3859901"/>
            <a:ext cx="22581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54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3548"/>
                </a:solidFill>
                <a:latin typeface="Calibri"/>
                <a:ea typeface="Calibri"/>
                <a:cs typeface="Calibri"/>
                <a:sym typeface="Calibri"/>
              </a:rPr>
              <a:t>Dữ liệu phân bố không đồng đều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fbbef6187f_0_0"/>
          <p:cNvSpPr/>
          <p:nvPr/>
        </p:nvSpPr>
        <p:spPr>
          <a:xfrm>
            <a:off x="5015400" y="3795706"/>
            <a:ext cx="502800" cy="502800"/>
          </a:xfrm>
          <a:prstGeom prst="ellipse">
            <a:avLst/>
          </a:prstGeom>
          <a:solidFill>
            <a:srgbClr val="1B2A45"/>
          </a:solidFill>
          <a:ln cap="flat" cmpd="sng" w="12700">
            <a:solidFill>
              <a:srgbClr val="1B2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2" name="Google Shape;862;g3fbbef6187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1130" y="3921436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g3fbbef6187f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4" name="Google Shape;864;g3fbbef6187f_0_0"/>
          <p:cNvPicPr preferRelativeResize="0"/>
          <p:nvPr/>
        </p:nvPicPr>
        <p:blipFill rotWithShape="1">
          <a:blip r:embed="rId6">
            <a:alphaModFix/>
          </a:blip>
          <a:srcRect b="51407" l="0" r="53875" t="0"/>
          <a:stretch/>
        </p:blipFill>
        <p:spPr>
          <a:xfrm>
            <a:off x="851300" y="1076106"/>
            <a:ext cx="3366399" cy="182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bbef6187f_0_16"/>
          <p:cNvSpPr/>
          <p:nvPr/>
        </p:nvSpPr>
        <p:spPr>
          <a:xfrm>
            <a:off x="538405" y="305455"/>
            <a:ext cx="8191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9494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Kiểm tra tương quan giữa các biến</a:t>
            </a:r>
            <a:endParaRPr sz="2000" u="none" strike="noStrike">
              <a:solidFill>
                <a:srgbClr val="49494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71" name="Google Shape;871;g3fbbef6187f_0_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2" name="Google Shape;872;g3fbbef6187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50" y="817700"/>
            <a:ext cx="4229099" cy="42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9"/>
          <p:cNvSpPr txBox="1"/>
          <p:nvPr>
            <p:ph type="title"/>
          </p:nvPr>
        </p:nvSpPr>
        <p:spPr>
          <a:xfrm>
            <a:off x="2775397" y="2231136"/>
            <a:ext cx="3580327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4700"/>
              <a:t>Build Model</a:t>
            </a:r>
            <a:endParaRPr/>
          </a:p>
        </p:txBody>
      </p:sp>
      <p:sp>
        <p:nvSpPr>
          <p:cNvPr id="878" name="Google Shape;878;p9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879" name="Google Shape;87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0"/>
          <p:cNvSpPr/>
          <p:nvPr/>
        </p:nvSpPr>
        <p:spPr>
          <a:xfrm>
            <a:off x="476280" y="380880"/>
            <a:ext cx="819108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rPr>
              <a:t>Chia dữ liệu và tiền xử lý</a:t>
            </a:r>
            <a:endParaRPr b="1" sz="2000" u="none" strike="noStrike">
              <a:solidFill>
                <a:srgbClr val="4949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0"/>
          <p:cNvSpPr/>
          <p:nvPr/>
        </p:nvSpPr>
        <p:spPr>
          <a:xfrm>
            <a:off x="533965" y="1308245"/>
            <a:ext cx="6774300" cy="365700"/>
          </a:xfrm>
          <a:prstGeom prst="roundRect">
            <a:avLst>
              <a:gd fmla="val 50000" name="adj"/>
            </a:avLst>
          </a:prstGeom>
          <a:solidFill>
            <a:srgbClr val="E6EBF3"/>
          </a:solidFill>
          <a:ln cap="flat" cmpd="sng" w="12700">
            <a:solidFill>
              <a:srgbClr val="E6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0"/>
          <p:cNvSpPr txBox="1"/>
          <p:nvPr/>
        </p:nvSpPr>
        <p:spPr>
          <a:xfrm>
            <a:off x="533965" y="1308245"/>
            <a:ext cx="666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5"/>
                </a:solidFill>
                <a:latin typeface="Calibri"/>
                <a:ea typeface="Calibri"/>
                <a:cs typeface="Calibri"/>
                <a:sym typeface="Calibri"/>
              </a:rPr>
              <a:t>Train &amp; Validation · 24,046 giao dịch (80%) · 106 fraud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0"/>
          <p:cNvSpPr/>
          <p:nvPr/>
        </p:nvSpPr>
        <p:spPr>
          <a:xfrm>
            <a:off x="7384345" y="1323485"/>
            <a:ext cx="1516500" cy="365700"/>
          </a:xfrm>
          <a:prstGeom prst="roundRect">
            <a:avLst>
              <a:gd fmla="val 50000" name="adj"/>
            </a:avLst>
          </a:prstGeom>
          <a:solidFill>
            <a:srgbClr val="DDF3EE"/>
          </a:solidFill>
          <a:ln cap="flat" cmpd="sng" w="12700">
            <a:solidFill>
              <a:srgbClr val="DD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0"/>
          <p:cNvSpPr txBox="1"/>
          <p:nvPr/>
        </p:nvSpPr>
        <p:spPr>
          <a:xfrm>
            <a:off x="7369105" y="1293767"/>
            <a:ext cx="153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7A6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7A69"/>
                </a:solidFill>
                <a:latin typeface="Calibri"/>
                <a:ea typeface="Calibri"/>
                <a:cs typeface="Calibri"/>
                <a:sym typeface="Calibri"/>
              </a:rPr>
              <a:t>Test · 27 fraud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0"/>
          <p:cNvSpPr/>
          <p:nvPr/>
        </p:nvSpPr>
        <p:spPr>
          <a:xfrm>
            <a:off x="533975" y="1765450"/>
            <a:ext cx="5273100" cy="795600"/>
          </a:xfrm>
          <a:prstGeom prst="rect">
            <a:avLst/>
          </a:prstGeom>
          <a:solidFill>
            <a:srgbClr val="1B2A45"/>
          </a:solidFill>
          <a:ln cap="flat" cmpd="sng" w="12700">
            <a:solidFill>
              <a:srgbClr val="1B2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10"/>
          <p:cNvSpPr txBox="1"/>
          <p:nvPr/>
        </p:nvSpPr>
        <p:spPr>
          <a:xfrm>
            <a:off x="533965" y="1856885"/>
            <a:ext cx="5227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0"/>
          <p:cNvSpPr txBox="1"/>
          <p:nvPr/>
        </p:nvSpPr>
        <p:spPr>
          <a:xfrm>
            <a:off x="533965" y="2240933"/>
            <a:ext cx="52272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19,236 · 85 fraud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0"/>
          <p:cNvSpPr/>
          <p:nvPr/>
        </p:nvSpPr>
        <p:spPr>
          <a:xfrm>
            <a:off x="5883200" y="1765450"/>
            <a:ext cx="1425000" cy="795600"/>
          </a:xfrm>
          <a:prstGeom prst="rect">
            <a:avLst/>
          </a:prstGeom>
          <a:solidFill>
            <a:srgbClr val="4A5F8A"/>
          </a:solidFill>
          <a:ln cap="flat" cmpd="sng" w="12700">
            <a:solidFill>
              <a:srgbClr val="4A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0"/>
          <p:cNvSpPr txBox="1"/>
          <p:nvPr/>
        </p:nvSpPr>
        <p:spPr>
          <a:xfrm>
            <a:off x="5883200" y="1856875"/>
            <a:ext cx="14250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0"/>
          <p:cNvSpPr txBox="1"/>
          <p:nvPr/>
        </p:nvSpPr>
        <p:spPr>
          <a:xfrm>
            <a:off x="5883200" y="2240925"/>
            <a:ext cx="14250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4,810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0"/>
          <p:cNvSpPr/>
          <p:nvPr/>
        </p:nvSpPr>
        <p:spPr>
          <a:xfrm>
            <a:off x="7384345" y="1765445"/>
            <a:ext cx="1516500" cy="795600"/>
          </a:xfrm>
          <a:prstGeom prst="rect">
            <a:avLst/>
          </a:prstGeom>
          <a:solidFill>
            <a:srgbClr val="167A69"/>
          </a:solidFill>
          <a:ln cap="flat" cmpd="sng" w="12700">
            <a:solidFill>
              <a:srgbClr val="167A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0"/>
          <p:cNvSpPr txBox="1"/>
          <p:nvPr/>
        </p:nvSpPr>
        <p:spPr>
          <a:xfrm>
            <a:off x="7384345" y="1867858"/>
            <a:ext cx="15165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Test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0"/>
          <p:cNvSpPr txBox="1"/>
          <p:nvPr/>
        </p:nvSpPr>
        <p:spPr>
          <a:xfrm>
            <a:off x="7384345" y="2252820"/>
            <a:ext cx="1516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6,012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0"/>
          <p:cNvSpPr txBox="1"/>
          <p:nvPr/>
        </p:nvSpPr>
        <p:spPr>
          <a:xfrm>
            <a:off x="533965" y="2618885"/>
            <a:ext cx="522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577"/>
                </a:solidFill>
                <a:latin typeface="Calibri"/>
                <a:ea typeface="Calibri"/>
                <a:cs typeface="Calibri"/>
                <a:sym typeface="Calibri"/>
              </a:rPr>
              <a:t>Huấn luyện + tune hyper-parameter (CV 5-fold)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0"/>
          <p:cNvSpPr txBox="1"/>
          <p:nvPr/>
        </p:nvSpPr>
        <p:spPr>
          <a:xfrm>
            <a:off x="5883205" y="2611265"/>
            <a:ext cx="131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577"/>
                </a:solidFill>
                <a:latin typeface="Calibri"/>
                <a:ea typeface="Calibri"/>
                <a:cs typeface="Calibri"/>
                <a:sym typeface="Calibri"/>
              </a:rPr>
              <a:t>Chọn threshold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0"/>
          <p:cNvSpPr txBox="1"/>
          <p:nvPr/>
        </p:nvSpPr>
        <p:spPr>
          <a:xfrm>
            <a:off x="7201465" y="2598006"/>
            <a:ext cx="183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577"/>
                </a:solidFill>
                <a:latin typeface="Calibri"/>
                <a:ea typeface="Calibri"/>
                <a:cs typeface="Calibri"/>
                <a:sym typeface="Calibri"/>
              </a:rPr>
              <a:t>Đánh giá cuối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0"/>
          <p:cNvSpPr/>
          <p:nvPr/>
        </p:nvSpPr>
        <p:spPr>
          <a:xfrm>
            <a:off x="510150" y="3067400"/>
            <a:ext cx="1191900" cy="1518600"/>
          </a:xfrm>
          <a:prstGeom prst="roundRect">
            <a:avLst>
              <a:gd fmla="val 16667" name="adj"/>
            </a:avLst>
          </a:prstGeom>
          <a:solidFill>
            <a:srgbClr val="1B2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Xử lý outlier bằng phương pháp clipping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02" name="Google Shape;902;p10"/>
          <p:cNvSpPr/>
          <p:nvPr/>
        </p:nvSpPr>
        <p:spPr>
          <a:xfrm>
            <a:off x="1779412" y="3067400"/>
            <a:ext cx="1291800" cy="1518600"/>
          </a:xfrm>
          <a:prstGeom prst="roundRect">
            <a:avLst>
              <a:gd fmla="val 16667" name="adj"/>
            </a:avLst>
          </a:prstGeom>
          <a:solidFill>
            <a:srgbClr val="1B2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Chuẩn hóa dữ liệu số bằng Standard Scaler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03" name="Google Shape;903;p10"/>
          <p:cNvSpPr/>
          <p:nvPr/>
        </p:nvSpPr>
        <p:spPr>
          <a:xfrm>
            <a:off x="3148574" y="3067400"/>
            <a:ext cx="1291800" cy="1518600"/>
          </a:xfrm>
          <a:prstGeom prst="roundRect">
            <a:avLst>
              <a:gd fmla="val 16667" name="adj"/>
            </a:avLst>
          </a:prstGeom>
          <a:solidFill>
            <a:srgbClr val="1B2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Chuẩn hóa dữ liệu chữ bằng OneHot Encoder / Target Encoder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04" name="Google Shape;904;p10"/>
          <p:cNvSpPr/>
          <p:nvPr/>
        </p:nvSpPr>
        <p:spPr>
          <a:xfrm>
            <a:off x="5915600" y="3067400"/>
            <a:ext cx="1360200" cy="1518600"/>
          </a:xfrm>
          <a:prstGeom prst="roundRect">
            <a:avLst>
              <a:gd fmla="val 16667" name="adj"/>
            </a:avLst>
          </a:prstGeom>
          <a:solidFill>
            <a:srgbClr val="4A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Cross validation bằng StratifiedKFold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05" name="Google Shape;90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6" name="Google Shape;906;p10"/>
          <p:cNvSpPr/>
          <p:nvPr/>
        </p:nvSpPr>
        <p:spPr>
          <a:xfrm>
            <a:off x="4517737" y="3067400"/>
            <a:ext cx="1291800" cy="1518600"/>
          </a:xfrm>
          <a:prstGeom prst="roundRect">
            <a:avLst>
              <a:gd fmla="val 16667" name="adj"/>
            </a:avLst>
          </a:prstGeom>
          <a:solidFill>
            <a:srgbClr val="1B2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Tune hyper param bằng Randomized SearchCV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h67e7f9494e76f90c_1_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3" name="Google Shape;913;h67e7f9494e76f90c_1_75"/>
          <p:cNvSpPr/>
          <p:nvPr/>
        </p:nvSpPr>
        <p:spPr>
          <a:xfrm>
            <a:off x="476280" y="380880"/>
            <a:ext cx="8191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94949"/>
                </a:solidFill>
              </a:rPr>
              <a:t>Feature Engineering</a:t>
            </a:r>
            <a:endParaRPr b="1" sz="2000" u="none" strike="noStrike">
              <a:solidFill>
                <a:srgbClr val="4949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h67e7f9494e76f90c_1_75"/>
          <p:cNvSpPr txBox="1"/>
          <p:nvPr/>
        </p:nvSpPr>
        <p:spPr>
          <a:xfrm>
            <a:off x="516100" y="996600"/>
            <a:ext cx="4881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Tạo thêm 12 đặc trưng từ các đặc trưng gốc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15" name="Google Shape;915;h67e7f9494e76f90c_1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00" y="1424250"/>
            <a:ext cx="4129082" cy="34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h67e7f9494e76f90c_1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4225" y="1767425"/>
            <a:ext cx="2770200" cy="16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h67e7f9494e76f90c_1_75"/>
          <p:cNvSpPr txBox="1"/>
          <p:nvPr/>
        </p:nvSpPr>
        <p:spPr>
          <a:xfrm>
            <a:off x="5397700" y="1347300"/>
            <a:ext cx="3210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14 đặc trưng tham gia huấn luyện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18" name="Google Shape;918;h67e7f9494e76f90c_1_75"/>
          <p:cNvSpPr txBox="1"/>
          <p:nvPr/>
        </p:nvSpPr>
        <p:spPr>
          <a:xfrm>
            <a:off x="5420850" y="3763575"/>
            <a:ext cx="34092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Tính riêng các đặc trưng cho tập train/ test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=&gt; tránh data leakage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g40a1ea2c6ba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525" y="933150"/>
            <a:ext cx="5277925" cy="41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g40a1ea2c6ba_0_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6" name="Google Shape;926;g40a1ea2c6ba_0_35"/>
          <p:cNvSpPr/>
          <p:nvPr/>
        </p:nvSpPr>
        <p:spPr>
          <a:xfrm>
            <a:off x="590930" y="222130"/>
            <a:ext cx="8191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494949"/>
                </a:solidFill>
              </a:rPr>
              <a:t>Hồi quy Lorit</a:t>
            </a:r>
            <a:endParaRPr b="1" sz="2500" u="none" strike="noStrike">
              <a:solidFill>
                <a:srgbClr val="4949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40a1ea2c6ba_0_35"/>
          <p:cNvSpPr txBox="1"/>
          <p:nvPr/>
        </p:nvSpPr>
        <p:spPr>
          <a:xfrm>
            <a:off x="6202625" y="2261250"/>
            <a:ext cx="2722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p-value của Logit chỉ đo ý nghĩa trong mô hình tuyến tính log-odds. Một feature có p &gt; 0.05 vẫn có thể hữu ích nhờ quan hệ phi tuyến và tương tác giữa các biến.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1"/>
          <p:cNvSpPr/>
          <p:nvPr/>
        </p:nvSpPr>
        <p:spPr>
          <a:xfrm>
            <a:off x="476280" y="380880"/>
            <a:ext cx="819108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494949"/>
                </a:solidFill>
              </a:rPr>
              <a:t>Xây dựng mô hình</a:t>
            </a:r>
            <a:endParaRPr b="1" sz="3200" u="none" strike="noStrike">
              <a:solidFill>
                <a:srgbClr val="4949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1"/>
          <p:cNvSpPr/>
          <p:nvPr/>
        </p:nvSpPr>
        <p:spPr>
          <a:xfrm>
            <a:off x="1044025" y="1239575"/>
            <a:ext cx="1325700" cy="158220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RANDOM FOREST</a:t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4" name="Google Shape;934;p11"/>
          <p:cNvSpPr txBox="1"/>
          <p:nvPr/>
        </p:nvSpPr>
        <p:spPr>
          <a:xfrm>
            <a:off x="725700" y="3205925"/>
            <a:ext cx="713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C2E"/>
              </a:buClr>
              <a:buSzPts val="2000"/>
              <a:buFont typeface="Cambria"/>
              <a:buNone/>
            </a:pPr>
            <a:r>
              <a:rPr lang="en-US" sz="1800">
                <a:solidFill>
                  <a:srgbClr val="111C2E"/>
                </a:solidFill>
                <a:latin typeface="Manrope"/>
                <a:ea typeface="Manrope"/>
                <a:cs typeface="Manrope"/>
                <a:sym typeface="Manrope"/>
              </a:rPr>
              <a:t>X</a:t>
            </a:r>
            <a:r>
              <a:rPr lang="en-US" sz="1800">
                <a:solidFill>
                  <a:srgbClr val="111C2E"/>
                </a:solidFill>
                <a:latin typeface="Manrope"/>
                <a:ea typeface="Manrope"/>
                <a:cs typeface="Manrope"/>
                <a:sym typeface="Manrope"/>
              </a:rPr>
              <a:t>ử lý mất cân bằng lớp</a:t>
            </a:r>
            <a:endParaRPr sz="1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5" name="Google Shape;935;p11"/>
          <p:cNvSpPr/>
          <p:nvPr/>
        </p:nvSpPr>
        <p:spPr>
          <a:xfrm>
            <a:off x="1003700" y="3674300"/>
            <a:ext cx="2311200" cy="985800"/>
          </a:xfrm>
          <a:prstGeom prst="roundRect">
            <a:avLst>
              <a:gd fmla="val 16000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6" name="Google Shape;936;p11"/>
          <p:cNvSpPr txBox="1"/>
          <p:nvPr/>
        </p:nvSpPr>
        <p:spPr>
          <a:xfrm>
            <a:off x="1330549" y="3701525"/>
            <a:ext cx="16575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class_weight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5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balance, 1:20, 1:40, 1:60 ….</a:t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1"/>
          <p:cNvSpPr/>
          <p:nvPr/>
        </p:nvSpPr>
        <p:spPr>
          <a:xfrm>
            <a:off x="3378950" y="3674300"/>
            <a:ext cx="2311200" cy="985800"/>
          </a:xfrm>
          <a:prstGeom prst="roundRect">
            <a:avLst>
              <a:gd fmla="val 16000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8" name="Google Shape;938;p11"/>
          <p:cNvSpPr/>
          <p:nvPr/>
        </p:nvSpPr>
        <p:spPr>
          <a:xfrm>
            <a:off x="5754500" y="3674300"/>
            <a:ext cx="2311200" cy="985800"/>
          </a:xfrm>
          <a:prstGeom prst="roundRect">
            <a:avLst>
              <a:gd fmla="val 16000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9" name="Google Shape;939;p11"/>
          <p:cNvSpPr txBox="1"/>
          <p:nvPr/>
        </p:nvSpPr>
        <p:spPr>
          <a:xfrm>
            <a:off x="3773900" y="3731425"/>
            <a:ext cx="16575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scale_pos_weight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5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 các mức 0.1, 0.25, 0.5, 0.75 quanh imbalance ratio</a:t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1"/>
          <p:cNvSpPr txBox="1"/>
          <p:nvPr/>
        </p:nvSpPr>
        <p:spPr>
          <a:xfrm>
            <a:off x="6053900" y="3799975"/>
            <a:ext cx="17124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SMOTE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5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2%, 3%, 5%</a:t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1"/>
          <p:cNvSpPr/>
          <p:nvPr/>
        </p:nvSpPr>
        <p:spPr>
          <a:xfrm>
            <a:off x="2473725" y="1259825"/>
            <a:ext cx="1325700" cy="158220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XGBOOST</a:t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2" name="Google Shape;942;p11"/>
          <p:cNvSpPr/>
          <p:nvPr/>
        </p:nvSpPr>
        <p:spPr>
          <a:xfrm>
            <a:off x="3903425" y="1259825"/>
            <a:ext cx="1325700" cy="158220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LIGHTGBM</a:t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3" name="Google Shape;943;p11"/>
          <p:cNvSpPr/>
          <p:nvPr/>
        </p:nvSpPr>
        <p:spPr>
          <a:xfrm>
            <a:off x="5333125" y="1284300"/>
            <a:ext cx="1325700" cy="158220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CATBOOST</a:t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4" name="Google Shape;944;p11"/>
          <p:cNvSpPr/>
          <p:nvPr/>
        </p:nvSpPr>
        <p:spPr>
          <a:xfrm>
            <a:off x="6762825" y="1284300"/>
            <a:ext cx="1325700" cy="158220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STACKING</a:t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5" name="Google Shape;9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2"/>
          <p:cNvSpPr/>
          <p:nvPr/>
        </p:nvSpPr>
        <p:spPr>
          <a:xfrm>
            <a:off x="476280" y="380880"/>
            <a:ext cx="819108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Chỉ số đánh giá mô hình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1" name="Google Shape;951;p12"/>
          <p:cNvSpPr/>
          <p:nvPr/>
        </p:nvSpPr>
        <p:spPr>
          <a:xfrm>
            <a:off x="365760" y="1371600"/>
            <a:ext cx="2651760" cy="137922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206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2" name="Google Shape;952;p12"/>
          <p:cNvSpPr/>
          <p:nvPr/>
        </p:nvSpPr>
        <p:spPr>
          <a:xfrm>
            <a:off x="5852160" y="1371600"/>
            <a:ext cx="2651760" cy="137922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3" name="Google Shape;953;p12"/>
          <p:cNvSpPr/>
          <p:nvPr/>
        </p:nvSpPr>
        <p:spPr>
          <a:xfrm>
            <a:off x="3108960" y="1371600"/>
            <a:ext cx="2651760" cy="137922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4" name="Google Shape;954;p12"/>
          <p:cNvSpPr/>
          <p:nvPr/>
        </p:nvSpPr>
        <p:spPr>
          <a:xfrm>
            <a:off x="365760" y="2872740"/>
            <a:ext cx="2651760" cy="137922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5" name="Google Shape;955;p12"/>
          <p:cNvSpPr/>
          <p:nvPr/>
        </p:nvSpPr>
        <p:spPr>
          <a:xfrm>
            <a:off x="5852160" y="2872740"/>
            <a:ext cx="2651760" cy="137922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6" name="Google Shape;956;p12"/>
          <p:cNvSpPr/>
          <p:nvPr/>
        </p:nvSpPr>
        <p:spPr>
          <a:xfrm>
            <a:off x="3108960" y="2872740"/>
            <a:ext cx="2651760" cy="1379220"/>
          </a:xfrm>
          <a:prstGeom prst="roundRect">
            <a:avLst>
              <a:gd fmla="val 16667" name="adj"/>
            </a:avLst>
          </a:prstGeom>
          <a:solidFill>
            <a:srgbClr val="11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7" name="Google Shape;957;p12"/>
          <p:cNvSpPr txBox="1"/>
          <p:nvPr/>
        </p:nvSpPr>
        <p:spPr>
          <a:xfrm>
            <a:off x="1022225" y="1375470"/>
            <a:ext cx="13388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Precision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8" name="Google Shape;958;p12"/>
          <p:cNvSpPr txBox="1"/>
          <p:nvPr/>
        </p:nvSpPr>
        <p:spPr>
          <a:xfrm>
            <a:off x="365760" y="1771710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Trong các giao dịch bị cảnh báo, bao nhiêu là fraud thật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9" name="Google Shape;959;p12"/>
          <p:cNvSpPr txBox="1"/>
          <p:nvPr/>
        </p:nvSpPr>
        <p:spPr>
          <a:xfrm>
            <a:off x="3841053" y="1385457"/>
            <a:ext cx="1187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Recall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0" name="Google Shape;960;p12"/>
          <p:cNvSpPr txBox="1"/>
          <p:nvPr/>
        </p:nvSpPr>
        <p:spPr>
          <a:xfrm>
            <a:off x="3108961" y="1817742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Trong các fraud thật, mô hình bắt được bao nhiêu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1" name="Google Shape;961;p12"/>
          <p:cNvSpPr txBox="1"/>
          <p:nvPr/>
        </p:nvSpPr>
        <p:spPr>
          <a:xfrm>
            <a:off x="5852161" y="1879806"/>
            <a:ext cx="265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Cân bằng giữa Precision và Recall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2" name="Google Shape;962;p12"/>
          <p:cNvSpPr txBox="1"/>
          <p:nvPr/>
        </p:nvSpPr>
        <p:spPr>
          <a:xfrm>
            <a:off x="6336316" y="1376142"/>
            <a:ext cx="16834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F1-Score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3" name="Google Shape;963;p12"/>
          <p:cNvSpPr txBox="1"/>
          <p:nvPr/>
        </p:nvSpPr>
        <p:spPr>
          <a:xfrm>
            <a:off x="1022225" y="2891225"/>
            <a:ext cx="12827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Manrope"/>
                <a:ea typeface="Manrope"/>
                <a:cs typeface="Manrope"/>
                <a:sym typeface="Manrope"/>
              </a:rPr>
              <a:t>F2-Score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4" name="Google Shape;964;p12"/>
          <p:cNvSpPr txBox="1"/>
          <p:nvPr/>
        </p:nvSpPr>
        <p:spPr>
          <a:xfrm>
            <a:off x="3793478" y="2891225"/>
            <a:ext cx="15297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ROC - AUC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5" name="Google Shape;965;p12"/>
          <p:cNvSpPr txBox="1"/>
          <p:nvPr/>
        </p:nvSpPr>
        <p:spPr>
          <a:xfrm>
            <a:off x="6519782" y="2872740"/>
            <a:ext cx="13165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Manrope"/>
                <a:ea typeface="Manrope"/>
                <a:cs typeface="Manrope"/>
                <a:sym typeface="Manrope"/>
              </a:rPr>
              <a:t>PR - AUC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6" name="Google Shape;966;p12"/>
          <p:cNvSpPr txBox="1"/>
          <p:nvPr/>
        </p:nvSpPr>
        <p:spPr>
          <a:xfrm>
            <a:off x="365760" y="3291840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Tăng trọng số của</a:t>
            </a:r>
            <a:r>
              <a:rPr lang="en-US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Recall, hạn chế bỏ sót fraud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7" name="Google Shape;967;p12"/>
          <p:cNvSpPr txBox="1"/>
          <p:nvPr/>
        </p:nvSpPr>
        <p:spPr>
          <a:xfrm>
            <a:off x="3108961" y="3324255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Khả năng phân biệt giao dịch hợp lệ và gian lận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8" name="Google Shape;968;p12"/>
          <p:cNvSpPr txBox="1"/>
          <p:nvPr/>
        </p:nvSpPr>
        <p:spPr>
          <a:xfrm>
            <a:off x="5852159" y="3330745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Quan hệ Precision–Recall, phù hợp dữ liệu mất cân bằng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9" name="Google Shape;96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40a03cbc302_0_0"/>
          <p:cNvSpPr txBox="1"/>
          <p:nvPr>
            <p:ph type="title"/>
          </p:nvPr>
        </p:nvSpPr>
        <p:spPr>
          <a:xfrm>
            <a:off x="2514775" y="2231125"/>
            <a:ext cx="4225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800"/>
              <a:t>Result Analysis</a:t>
            </a:r>
            <a:endParaRPr sz="2700"/>
          </a:p>
        </p:txBody>
      </p:sp>
      <p:sp>
        <p:nvSpPr>
          <p:cNvPr id="975" name="Google Shape;975;g40a03cbc302_0_0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976" name="Google Shape;976;g40a03cbc302_0_0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Phân tích kết quả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40a03cbc302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40a1ea2c6ba_0_23"/>
          <p:cNvSpPr/>
          <p:nvPr/>
        </p:nvSpPr>
        <p:spPr>
          <a:xfrm>
            <a:off x="1786393" y="163325"/>
            <a:ext cx="5636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Thử nghiệm 1: Sử dụng các feature gốc (6 features)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84" name="Google Shape;984;g40a1ea2c6ba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25" y="475025"/>
            <a:ext cx="7512852" cy="69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g40a1ea2c6ba_0_23"/>
          <p:cNvSpPr/>
          <p:nvPr/>
        </p:nvSpPr>
        <p:spPr>
          <a:xfrm>
            <a:off x="1666031" y="1501900"/>
            <a:ext cx="61314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Thử nghiệm 2: Sử dụng One-Hot Encoder (26 features)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9494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86" name="Google Shape;986;g40a1ea2c6ba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675" y="3597604"/>
            <a:ext cx="7446151" cy="118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g40a1ea2c6ba_0_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8" name="Google Shape;988;g40a1ea2c6ba_0_23"/>
          <p:cNvSpPr/>
          <p:nvPr/>
        </p:nvSpPr>
        <p:spPr>
          <a:xfrm>
            <a:off x="1786393" y="3289650"/>
            <a:ext cx="5636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Thử nghiệm 3: Sử dụng Target Encoder(14 features)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89" name="Google Shape;989;g40a1ea2c6ba_0_23"/>
          <p:cNvSpPr/>
          <p:nvPr/>
        </p:nvSpPr>
        <p:spPr>
          <a:xfrm>
            <a:off x="1237425" y="3854475"/>
            <a:ext cx="7023000" cy="1806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g40a1ea2c6ba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8325" y="1841975"/>
            <a:ext cx="7479500" cy="1088084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g40a1ea2c6ba_0_23"/>
          <p:cNvSpPr/>
          <p:nvPr/>
        </p:nvSpPr>
        <p:spPr>
          <a:xfrm>
            <a:off x="1213900" y="2270755"/>
            <a:ext cx="7023000" cy="1806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h67e7f9494e76f90c_1_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8" name="Google Shape;998;h67e7f9494e76f90c_1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325" y="1506775"/>
            <a:ext cx="3553999" cy="2470451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h67e7f9494e76f90c_1_65"/>
          <p:cNvSpPr/>
          <p:nvPr/>
        </p:nvSpPr>
        <p:spPr>
          <a:xfrm>
            <a:off x="476400" y="269601"/>
            <a:ext cx="81912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Giải thích mức độ ảnh hưởng của các feature</a:t>
            </a:r>
            <a:endParaRPr b="1" sz="20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0" name="Google Shape;1000;h67e7f9494e76f90c_1_65"/>
          <p:cNvSpPr txBox="1"/>
          <p:nvPr/>
        </p:nvSpPr>
        <p:spPr>
          <a:xfrm>
            <a:off x="1490225" y="1090175"/>
            <a:ext cx="308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Đo mức độ feature được mô hình sử dụng 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01" name="Google Shape;1001;h67e7f9494e76f90c_1_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350" y="1506775"/>
            <a:ext cx="3553999" cy="2470473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h67e7f9494e76f90c_1_65"/>
          <p:cNvSpPr txBox="1"/>
          <p:nvPr/>
        </p:nvSpPr>
        <p:spPr>
          <a:xfrm>
            <a:off x="5195950" y="1090175"/>
            <a:ext cx="308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Đo mức độ ảnh hưởng của feature lên dự đoán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h67e7f9494e76f90c_1_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9" name="Google Shape;1009;h67e7f9494e76f90c_1_82"/>
          <p:cNvSpPr/>
          <p:nvPr/>
        </p:nvSpPr>
        <p:spPr>
          <a:xfrm>
            <a:off x="465975" y="1692425"/>
            <a:ext cx="76974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Thử nghiệm 5: Loại bỏ 3 features: </a:t>
            </a:r>
            <a:r>
              <a:rPr lang="en-US" sz="12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is_night, amt_vs_card_median, distance_km (11 features)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10" name="Google Shape;1010;h67e7f9494e76f90c_1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25" y="2015163"/>
            <a:ext cx="7375751" cy="11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h67e7f9494e76f90c_1_82"/>
          <p:cNvSpPr txBox="1"/>
          <p:nvPr/>
        </p:nvSpPr>
        <p:spPr>
          <a:xfrm>
            <a:off x="1551100" y="4721000"/>
            <a:ext cx="6261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=&gt; Việc loại bỏ features không làm mô hình hoạt động tốt hơn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12" name="Google Shape;1012;h67e7f9494e76f90c_1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425" y="586800"/>
            <a:ext cx="7312326" cy="9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h67e7f9494e76f90c_1_82"/>
          <p:cNvSpPr/>
          <p:nvPr/>
        </p:nvSpPr>
        <p:spPr>
          <a:xfrm>
            <a:off x="486813" y="220197"/>
            <a:ext cx="8191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Thử nghiệm 4: Loại bỏ 4 features: is_night, amt_vs_card_median, distance_km, amt (10 features)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4" name="Google Shape;1014;h67e7f9494e76f90c_1_82"/>
          <p:cNvSpPr/>
          <p:nvPr/>
        </p:nvSpPr>
        <p:spPr>
          <a:xfrm>
            <a:off x="1024438" y="2423925"/>
            <a:ext cx="7193400" cy="1806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h67e7f9494e76f90c_1_82"/>
          <p:cNvPicPr preferRelativeResize="0"/>
          <p:nvPr/>
        </p:nvPicPr>
        <p:blipFill rotWithShape="1">
          <a:blip r:embed="rId5">
            <a:alphaModFix/>
          </a:blip>
          <a:srcRect b="0" l="2629" r="0" t="0"/>
          <a:stretch/>
        </p:blipFill>
        <p:spPr>
          <a:xfrm>
            <a:off x="876370" y="3626912"/>
            <a:ext cx="7348840" cy="9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h67e7f9494e76f90c_1_82"/>
          <p:cNvSpPr/>
          <p:nvPr/>
        </p:nvSpPr>
        <p:spPr>
          <a:xfrm>
            <a:off x="465988" y="3351509"/>
            <a:ext cx="81912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Thử nghiệm 6: Loại bỏ 3 features: </a:t>
            </a:r>
            <a:r>
              <a:rPr lang="en-US" sz="12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amt</a:t>
            </a:r>
            <a:r>
              <a:rPr lang="en-US" sz="12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, amt_vs_card_median, distance_km (11 features)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7" name="Google Shape;1017;h67e7f9494e76f90c_1_82"/>
          <p:cNvSpPr/>
          <p:nvPr/>
        </p:nvSpPr>
        <p:spPr>
          <a:xfrm>
            <a:off x="1042988" y="4068488"/>
            <a:ext cx="7120500" cy="1806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h67e7f9494e76f90c_1_82"/>
          <p:cNvSpPr/>
          <p:nvPr/>
        </p:nvSpPr>
        <p:spPr>
          <a:xfrm>
            <a:off x="954063" y="798175"/>
            <a:ext cx="7193400" cy="1806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h67e7f9494e76f90c_1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5" name="Google Shape;1025;h67e7f9494e76f90c_1_0"/>
          <p:cNvPicPr preferRelativeResize="0"/>
          <p:nvPr/>
        </p:nvPicPr>
        <p:blipFill rotWithShape="1">
          <a:blip r:embed="rId3">
            <a:alphaModFix/>
          </a:blip>
          <a:srcRect b="0" l="0" r="85931" t="12983"/>
          <a:stretch/>
        </p:blipFill>
        <p:spPr>
          <a:xfrm>
            <a:off x="1322325" y="3019450"/>
            <a:ext cx="1949599" cy="194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h67e7f9494e76f90c_1_0"/>
          <p:cNvPicPr preferRelativeResize="0"/>
          <p:nvPr/>
        </p:nvPicPr>
        <p:blipFill rotWithShape="1">
          <a:blip r:embed="rId3">
            <a:alphaModFix/>
          </a:blip>
          <a:srcRect b="0" l="21061" r="63426" t="12778"/>
          <a:stretch/>
        </p:blipFill>
        <p:spPr>
          <a:xfrm>
            <a:off x="4840475" y="927426"/>
            <a:ext cx="2144696" cy="194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h67e7f9494e76f90c_1_0"/>
          <p:cNvPicPr preferRelativeResize="0"/>
          <p:nvPr/>
        </p:nvPicPr>
        <p:blipFill rotWithShape="1">
          <a:blip r:embed="rId3">
            <a:alphaModFix/>
          </a:blip>
          <a:srcRect b="0" l="42765" r="41562" t="12732"/>
          <a:stretch/>
        </p:blipFill>
        <p:spPr>
          <a:xfrm>
            <a:off x="3445775" y="3019450"/>
            <a:ext cx="2165576" cy="194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h67e7f9494e76f90c_1_0"/>
          <p:cNvPicPr preferRelativeResize="0"/>
          <p:nvPr/>
        </p:nvPicPr>
        <p:blipFill rotWithShape="1">
          <a:blip r:embed="rId3">
            <a:alphaModFix/>
          </a:blip>
          <a:srcRect b="0" l="64105" r="20910" t="12404"/>
          <a:stretch/>
        </p:blipFill>
        <p:spPr>
          <a:xfrm>
            <a:off x="2313150" y="866575"/>
            <a:ext cx="2062710" cy="194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h67e7f9494e76f90c_1_0"/>
          <p:cNvPicPr preferRelativeResize="0"/>
          <p:nvPr/>
        </p:nvPicPr>
        <p:blipFill rotWithShape="1">
          <a:blip r:embed="rId3">
            <a:alphaModFix/>
          </a:blip>
          <a:srcRect b="0" l="85579" r="0" t="12572"/>
          <a:stretch/>
        </p:blipFill>
        <p:spPr>
          <a:xfrm>
            <a:off x="5832675" y="3019450"/>
            <a:ext cx="1989012" cy="19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h67e7f9494e76f90c_1_0"/>
          <p:cNvSpPr/>
          <p:nvPr/>
        </p:nvSpPr>
        <p:spPr>
          <a:xfrm>
            <a:off x="476400" y="195676"/>
            <a:ext cx="81912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Confusion matrix</a:t>
            </a:r>
            <a:endParaRPr b="1" sz="20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h67e7f9494e76f90c_1_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37" name="Google Shape;1037;h67e7f9494e76f90c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325" y="964075"/>
            <a:ext cx="4625568" cy="321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h67e7f9494e76f90c_1_14"/>
          <p:cNvSpPr/>
          <p:nvPr/>
        </p:nvSpPr>
        <p:spPr>
          <a:xfrm>
            <a:off x="476400" y="318401"/>
            <a:ext cx="81912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94949"/>
                </a:solidFill>
                <a:latin typeface="Manrope"/>
                <a:ea typeface="Manrope"/>
                <a:cs typeface="Manrope"/>
                <a:sym typeface="Manrope"/>
              </a:rPr>
              <a:t>So sánh hiệu quả các mô hình</a:t>
            </a:r>
            <a:endParaRPr b="1" sz="20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9" name="Google Shape;1039;h67e7f9494e76f90c_1_14"/>
          <p:cNvPicPr preferRelativeResize="0"/>
          <p:nvPr/>
        </p:nvPicPr>
        <p:blipFill rotWithShape="1">
          <a:blip r:embed="rId4">
            <a:alphaModFix/>
          </a:blip>
          <a:srcRect b="0" l="0" r="49927" t="0"/>
          <a:stretch/>
        </p:blipFill>
        <p:spPr>
          <a:xfrm>
            <a:off x="30854" y="964075"/>
            <a:ext cx="4366973" cy="321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h67e7f9494e76f90c_1_14"/>
          <p:cNvSpPr txBox="1"/>
          <p:nvPr/>
        </p:nvSpPr>
        <p:spPr>
          <a:xfrm>
            <a:off x="1260550" y="4294250"/>
            <a:ext cx="6194400" cy="41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Sau 6 thử nghiệm, LightGBM là mô hình có hiệu quả tốt nhất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h67e7f9494e76f90c_1_37"/>
          <p:cNvSpPr txBox="1"/>
          <p:nvPr>
            <p:ph type="title"/>
          </p:nvPr>
        </p:nvSpPr>
        <p:spPr>
          <a:xfrm>
            <a:off x="2514775" y="2231125"/>
            <a:ext cx="4225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800"/>
              <a:t>Conclusion</a:t>
            </a:r>
            <a:endParaRPr sz="2700"/>
          </a:p>
        </p:txBody>
      </p:sp>
      <p:sp>
        <p:nvSpPr>
          <p:cNvPr id="1046" name="Google Shape;1046;h67e7f9494e76f90c_1_37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1047" name="Google Shape;1047;h67e7f9494e76f90c_1_37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Kết quả, hướng phát triển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h67e7f9494e76f90c_1_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15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054" name="Google Shape;1054;p15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5" name="Google Shape;1055;p15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56" name="Google Shape;1056;p15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057" name="Google Shape;1057;p15"/>
            <p:cNvSpPr/>
            <p:nvPr/>
          </p:nvSpPr>
          <p:spPr>
            <a:xfrm>
              <a:off x="4276440" y="1073520"/>
              <a:ext cx="591120" cy="587880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8" name="Google Shape;1058;p15"/>
            <p:cNvSpPr/>
            <p:nvPr/>
          </p:nvSpPr>
          <p:spPr>
            <a:xfrm>
              <a:off x="4616640" y="1189440"/>
              <a:ext cx="156600" cy="1566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475" lIns="91425" spcFirstLastPara="1" rIns="91425" wrap="square" tIns="78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9" name="Google Shape;1059;p15"/>
            <p:cNvSpPr/>
            <p:nvPr/>
          </p:nvSpPr>
          <p:spPr>
            <a:xfrm>
              <a:off x="4563360" y="1504800"/>
              <a:ext cx="19080" cy="2916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0" name="Google Shape;1060;p15"/>
            <p:cNvSpPr/>
            <p:nvPr/>
          </p:nvSpPr>
          <p:spPr>
            <a:xfrm>
              <a:off x="4416480" y="1182960"/>
              <a:ext cx="165960" cy="30204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1" name="Google Shape;1061;p15"/>
            <p:cNvSpPr/>
            <p:nvPr/>
          </p:nvSpPr>
          <p:spPr>
            <a:xfrm>
              <a:off x="4759200" y="1436400"/>
              <a:ext cx="68400" cy="1908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2" name="Google Shape;1062;p15"/>
            <p:cNvSpPr/>
            <p:nvPr/>
          </p:nvSpPr>
          <p:spPr>
            <a:xfrm>
              <a:off x="4743360" y="1487520"/>
              <a:ext cx="70920" cy="6372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3" name="Google Shape;1063;p15"/>
            <p:cNvSpPr/>
            <p:nvPr/>
          </p:nvSpPr>
          <p:spPr>
            <a:xfrm>
              <a:off x="4700520" y="1514880"/>
              <a:ext cx="19080" cy="68400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00" lIns="91425" spcFirstLastPara="1" rIns="91425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4" name="Google Shape;1064;p15"/>
            <p:cNvSpPr/>
            <p:nvPr/>
          </p:nvSpPr>
          <p:spPr>
            <a:xfrm>
              <a:off x="4286520" y="1221120"/>
              <a:ext cx="82800" cy="38160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5" name="Google Shape;1065;p15"/>
            <p:cNvSpPr/>
            <p:nvPr/>
          </p:nvSpPr>
          <p:spPr>
            <a:xfrm>
              <a:off x="4303080" y="1124640"/>
              <a:ext cx="79560" cy="64440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6" name="Google Shape;1066;p15"/>
            <p:cNvSpPr/>
            <p:nvPr/>
          </p:nvSpPr>
          <p:spPr>
            <a:xfrm>
              <a:off x="4386960" y="1071000"/>
              <a:ext cx="38520" cy="82800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67" name="Google Shape;1067;p15"/>
          <p:cNvSpPr/>
          <p:nvPr/>
        </p:nvSpPr>
        <p:spPr>
          <a:xfrm>
            <a:off x="1790640" y="2476440"/>
            <a:ext cx="5552640" cy="35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Kết luận</a:t>
            </a:r>
            <a:endParaRPr b="0" sz="196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68" name="Google Shape;1068;p15"/>
          <p:cNvSpPr/>
          <p:nvPr/>
        </p:nvSpPr>
        <p:spPr>
          <a:xfrm>
            <a:off x="1950375" y="2851675"/>
            <a:ext cx="55527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LightGBM là mô hình tốt nhất xét tổng thể với 14 đặc trưng, threshold 0.0634,, đặc biệt phù hợp với dữ liệu fraud mất cân bằng: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4960" lvl="0" marL="45720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360"/>
              <a:buFont typeface="Barlow Semi Condensed"/>
              <a:buChar char="-"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PR-AUC cao nhất 81.97%. Precision 90%. FPR 0,03%, bỏ sót 25.9%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4960" lvl="0" marL="45720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360"/>
              <a:buFont typeface="Barlow Semi Condensed"/>
              <a:buChar char="-"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F1 và F2 đều cao nhất.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4960" lvl="0" marL="45720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360"/>
              <a:buFont typeface="Barlow Semi Condensed"/>
              <a:buChar char="-"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Tốc độ dự đoán nhanh (0.03s)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69" name="Google Shape;1069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Google Shape;1074;h67e7f9494e76f90c_1_44"/>
          <p:cNvGrpSpPr/>
          <p:nvPr/>
        </p:nvGrpSpPr>
        <p:grpSpPr>
          <a:xfrm>
            <a:off x="3732480" y="527040"/>
            <a:ext cx="1678800" cy="1678800"/>
            <a:chOff x="3732480" y="527040"/>
            <a:chExt cx="1678800" cy="1678800"/>
          </a:xfrm>
        </p:grpSpPr>
        <p:grpSp>
          <p:nvGrpSpPr>
            <p:cNvPr id="1075" name="Google Shape;1075;h67e7f9494e76f90c_1_44"/>
            <p:cNvGrpSpPr/>
            <p:nvPr/>
          </p:nvGrpSpPr>
          <p:grpSpPr>
            <a:xfrm>
              <a:off x="3732480" y="527040"/>
              <a:ext cx="1678800" cy="1678800"/>
              <a:chOff x="3732480" y="527040"/>
              <a:chExt cx="1678800" cy="1678800"/>
            </a:xfrm>
          </p:grpSpPr>
          <p:sp>
            <p:nvSpPr>
              <p:cNvPr id="1076" name="Google Shape;1076;h67e7f9494e76f90c_1_44"/>
              <p:cNvSpPr/>
              <p:nvPr/>
            </p:nvSpPr>
            <p:spPr>
              <a:xfrm>
                <a:off x="3732480" y="527040"/>
                <a:ext cx="1678800" cy="1678800"/>
              </a:xfrm>
              <a:prstGeom prst="ellipse">
                <a:avLst/>
              </a:prstGeom>
              <a:solidFill>
                <a:srgbClr val="77C6FC"/>
              </a:solidFill>
              <a:ln cap="flat" cmpd="sng" w="9525">
                <a:solidFill>
                  <a:srgbClr val="49494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7" name="Google Shape;1077;h67e7f9494e76f90c_1_44"/>
              <p:cNvSpPr/>
              <p:nvPr/>
            </p:nvSpPr>
            <p:spPr>
              <a:xfrm>
                <a:off x="3956400" y="750960"/>
                <a:ext cx="1230600" cy="1230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49494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78" name="Google Shape;1078;h67e7f9494e76f90c_1_44"/>
            <p:cNvGrpSpPr/>
            <p:nvPr/>
          </p:nvGrpSpPr>
          <p:grpSpPr>
            <a:xfrm>
              <a:off x="4276440" y="1071000"/>
              <a:ext cx="590931" cy="590245"/>
              <a:chOff x="4276440" y="1071000"/>
              <a:chExt cx="590931" cy="590245"/>
            </a:xfrm>
          </p:grpSpPr>
          <p:sp>
            <p:nvSpPr>
              <p:cNvPr id="1079" name="Google Shape;1079;h67e7f9494e76f90c_1_44"/>
              <p:cNvSpPr/>
              <p:nvPr/>
            </p:nvSpPr>
            <p:spPr>
              <a:xfrm>
                <a:off x="4276440" y="1073520"/>
                <a:ext cx="590931" cy="587725"/>
              </a:xfrm>
              <a:custGeom>
                <a:rect b="b" l="l" r="r" t="t"/>
                <a:pathLst>
                  <a:path extrusionOk="0" h="208413" w="209550">
                    <a:moveTo>
                      <a:pt x="149830" y="7449"/>
                    </a:moveTo>
                    <a:lnTo>
                      <a:pt x="163530" y="9379"/>
                    </a:lnTo>
                    <a:lnTo>
                      <a:pt x="162179" y="19412"/>
                    </a:lnTo>
                    <a:cubicBezTo>
                      <a:pt x="161311" y="25105"/>
                      <a:pt x="165267" y="30411"/>
                      <a:pt x="170959" y="31279"/>
                    </a:cubicBezTo>
                    <a:cubicBezTo>
                      <a:pt x="171435" y="31345"/>
                      <a:pt x="171909" y="31377"/>
                      <a:pt x="172378" y="31377"/>
                    </a:cubicBezTo>
                    <a:cubicBezTo>
                      <a:pt x="174663" y="31377"/>
                      <a:pt x="176836" y="30614"/>
                      <a:pt x="178677" y="29253"/>
                    </a:cubicBezTo>
                    <a:lnTo>
                      <a:pt x="186878" y="23175"/>
                    </a:lnTo>
                    <a:lnTo>
                      <a:pt x="195175" y="34270"/>
                    </a:lnTo>
                    <a:lnTo>
                      <a:pt x="187071" y="40348"/>
                    </a:lnTo>
                    <a:cubicBezTo>
                      <a:pt x="182440" y="43821"/>
                      <a:pt x="181475" y="50382"/>
                      <a:pt x="184948" y="54916"/>
                    </a:cubicBezTo>
                    <a:cubicBezTo>
                      <a:pt x="186588" y="57135"/>
                      <a:pt x="189097" y="58679"/>
                      <a:pt x="191798" y="59065"/>
                    </a:cubicBezTo>
                    <a:lnTo>
                      <a:pt x="201832" y="60415"/>
                    </a:lnTo>
                    <a:lnTo>
                      <a:pt x="199902" y="74212"/>
                    </a:lnTo>
                    <a:lnTo>
                      <a:pt x="189869" y="72765"/>
                    </a:lnTo>
                    <a:cubicBezTo>
                      <a:pt x="189391" y="72700"/>
                      <a:pt x="188917" y="72668"/>
                      <a:pt x="188447" y="72668"/>
                    </a:cubicBezTo>
                    <a:cubicBezTo>
                      <a:pt x="183318" y="72668"/>
                      <a:pt x="178797" y="76426"/>
                      <a:pt x="178002" y="81641"/>
                    </a:cubicBezTo>
                    <a:cubicBezTo>
                      <a:pt x="177616" y="84342"/>
                      <a:pt x="178388" y="87140"/>
                      <a:pt x="180028" y="89359"/>
                    </a:cubicBezTo>
                    <a:lnTo>
                      <a:pt x="186106" y="97463"/>
                    </a:lnTo>
                    <a:lnTo>
                      <a:pt x="175011" y="105760"/>
                    </a:lnTo>
                    <a:lnTo>
                      <a:pt x="168933" y="97656"/>
                    </a:lnTo>
                    <a:cubicBezTo>
                      <a:pt x="166888" y="94930"/>
                      <a:pt x="163773" y="93507"/>
                      <a:pt x="160632" y="93507"/>
                    </a:cubicBezTo>
                    <a:cubicBezTo>
                      <a:pt x="158437" y="93507"/>
                      <a:pt x="156230" y="94201"/>
                      <a:pt x="154365" y="95630"/>
                    </a:cubicBezTo>
                    <a:cubicBezTo>
                      <a:pt x="152146" y="97270"/>
                      <a:pt x="150698" y="99682"/>
                      <a:pt x="150216" y="102480"/>
                    </a:cubicBezTo>
                    <a:lnTo>
                      <a:pt x="148865" y="112514"/>
                    </a:lnTo>
                    <a:lnTo>
                      <a:pt x="135069" y="110584"/>
                    </a:lnTo>
                    <a:lnTo>
                      <a:pt x="136516" y="100454"/>
                    </a:lnTo>
                    <a:cubicBezTo>
                      <a:pt x="137385" y="94762"/>
                      <a:pt x="133429" y="89552"/>
                      <a:pt x="127737" y="88683"/>
                    </a:cubicBezTo>
                    <a:cubicBezTo>
                      <a:pt x="127260" y="88618"/>
                      <a:pt x="126787" y="88586"/>
                      <a:pt x="126318" y="88586"/>
                    </a:cubicBezTo>
                    <a:cubicBezTo>
                      <a:pt x="124033" y="88586"/>
                      <a:pt x="121860" y="89349"/>
                      <a:pt x="120019" y="90710"/>
                    </a:cubicBezTo>
                    <a:lnTo>
                      <a:pt x="111818" y="96788"/>
                    </a:lnTo>
                    <a:lnTo>
                      <a:pt x="103521" y="85693"/>
                    </a:lnTo>
                    <a:lnTo>
                      <a:pt x="111625" y="79615"/>
                    </a:lnTo>
                    <a:cubicBezTo>
                      <a:pt x="116256" y="76141"/>
                      <a:pt x="117221" y="69581"/>
                      <a:pt x="113747" y="64950"/>
                    </a:cubicBezTo>
                    <a:cubicBezTo>
                      <a:pt x="112107" y="62731"/>
                      <a:pt x="109599" y="61284"/>
                      <a:pt x="106898" y="60898"/>
                    </a:cubicBezTo>
                    <a:lnTo>
                      <a:pt x="96767" y="59451"/>
                    </a:lnTo>
                    <a:lnTo>
                      <a:pt x="98793" y="45751"/>
                    </a:lnTo>
                    <a:lnTo>
                      <a:pt x="108827" y="47198"/>
                    </a:lnTo>
                    <a:cubicBezTo>
                      <a:pt x="109304" y="47263"/>
                      <a:pt x="109779" y="47294"/>
                      <a:pt x="110248" y="47294"/>
                    </a:cubicBezTo>
                    <a:cubicBezTo>
                      <a:pt x="115377" y="47294"/>
                      <a:pt x="119890" y="43537"/>
                      <a:pt x="120597" y="38322"/>
                    </a:cubicBezTo>
                    <a:cubicBezTo>
                      <a:pt x="120983" y="35621"/>
                      <a:pt x="120308" y="32823"/>
                      <a:pt x="118668" y="30604"/>
                    </a:cubicBezTo>
                    <a:lnTo>
                      <a:pt x="112493" y="22500"/>
                    </a:lnTo>
                    <a:lnTo>
                      <a:pt x="123588" y="14106"/>
                    </a:lnTo>
                    <a:lnTo>
                      <a:pt x="129763" y="22307"/>
                    </a:lnTo>
                    <a:cubicBezTo>
                      <a:pt x="131820" y="24993"/>
                      <a:pt x="134928" y="26427"/>
                      <a:pt x="138082" y="26427"/>
                    </a:cubicBezTo>
                    <a:cubicBezTo>
                      <a:pt x="140252" y="26427"/>
                      <a:pt x="142444" y="25748"/>
                      <a:pt x="144331" y="24333"/>
                    </a:cubicBezTo>
                    <a:cubicBezTo>
                      <a:pt x="146550" y="22693"/>
                      <a:pt x="147997" y="20184"/>
                      <a:pt x="148383" y="17483"/>
                    </a:cubicBezTo>
                    <a:lnTo>
                      <a:pt x="149830" y="7449"/>
                    </a:lnTo>
                    <a:close/>
                    <a:moveTo>
                      <a:pt x="45248" y="107690"/>
                    </a:moveTo>
                    <a:cubicBezTo>
                      <a:pt x="48432" y="114540"/>
                      <a:pt x="52870" y="120811"/>
                      <a:pt x="58176" y="126213"/>
                    </a:cubicBezTo>
                    <a:cubicBezTo>
                      <a:pt x="56131" y="131893"/>
                      <a:pt x="50817" y="135433"/>
                      <a:pt x="45127" y="135433"/>
                    </a:cubicBezTo>
                    <a:cubicBezTo>
                      <a:pt x="43568" y="135433"/>
                      <a:pt x="41980" y="135167"/>
                      <a:pt x="40424" y="134607"/>
                    </a:cubicBezTo>
                    <a:cubicBezTo>
                      <a:pt x="33188" y="132002"/>
                      <a:pt x="29426" y="124091"/>
                      <a:pt x="32031" y="116855"/>
                    </a:cubicBezTo>
                    <a:cubicBezTo>
                      <a:pt x="34057" y="111356"/>
                      <a:pt x="39267" y="107690"/>
                      <a:pt x="45152" y="107690"/>
                    </a:cubicBezTo>
                    <a:close/>
                    <a:moveTo>
                      <a:pt x="39845" y="89166"/>
                    </a:moveTo>
                    <a:cubicBezTo>
                      <a:pt x="40328" y="93121"/>
                      <a:pt x="41293" y="97077"/>
                      <a:pt x="42547" y="100936"/>
                    </a:cubicBezTo>
                    <a:cubicBezTo>
                      <a:pt x="31162" y="102287"/>
                      <a:pt x="22962" y="112610"/>
                      <a:pt x="24312" y="124091"/>
                    </a:cubicBezTo>
                    <a:cubicBezTo>
                      <a:pt x="25565" y="134650"/>
                      <a:pt x="34620" y="142471"/>
                      <a:pt x="45011" y="142471"/>
                    </a:cubicBezTo>
                    <a:cubicBezTo>
                      <a:pt x="45822" y="142471"/>
                      <a:pt x="46642" y="142423"/>
                      <a:pt x="47467" y="142325"/>
                    </a:cubicBezTo>
                    <a:cubicBezTo>
                      <a:pt x="54414" y="141457"/>
                      <a:pt x="60395" y="137308"/>
                      <a:pt x="63579" y="131134"/>
                    </a:cubicBezTo>
                    <a:cubicBezTo>
                      <a:pt x="65412" y="132677"/>
                      <a:pt x="67438" y="134125"/>
                      <a:pt x="69464" y="135475"/>
                    </a:cubicBezTo>
                    <a:cubicBezTo>
                      <a:pt x="72744" y="137501"/>
                      <a:pt x="75253" y="140685"/>
                      <a:pt x="76507" y="144351"/>
                    </a:cubicBezTo>
                    <a:lnTo>
                      <a:pt x="69078" y="151780"/>
                    </a:lnTo>
                    <a:lnTo>
                      <a:pt x="61842" y="146763"/>
                    </a:lnTo>
                    <a:cubicBezTo>
                      <a:pt x="60637" y="145960"/>
                      <a:pt x="59266" y="145571"/>
                      <a:pt x="57911" y="145571"/>
                    </a:cubicBezTo>
                    <a:cubicBezTo>
                      <a:pt x="55689" y="145571"/>
                      <a:pt x="53513" y="146618"/>
                      <a:pt x="52195" y="148596"/>
                    </a:cubicBezTo>
                    <a:cubicBezTo>
                      <a:pt x="51616" y="149368"/>
                      <a:pt x="51326" y="150236"/>
                      <a:pt x="51133" y="151105"/>
                    </a:cubicBezTo>
                    <a:lnTo>
                      <a:pt x="49300" y="159788"/>
                    </a:lnTo>
                    <a:lnTo>
                      <a:pt x="41003" y="159788"/>
                    </a:lnTo>
                    <a:lnTo>
                      <a:pt x="39170" y="151105"/>
                    </a:lnTo>
                    <a:cubicBezTo>
                      <a:pt x="38495" y="147815"/>
                      <a:pt x="35608" y="145558"/>
                      <a:pt x="32379" y="145558"/>
                    </a:cubicBezTo>
                    <a:cubicBezTo>
                      <a:pt x="31914" y="145558"/>
                      <a:pt x="31443" y="145605"/>
                      <a:pt x="30969" y="145702"/>
                    </a:cubicBezTo>
                    <a:cubicBezTo>
                      <a:pt x="30101" y="145895"/>
                      <a:pt x="29233" y="146281"/>
                      <a:pt x="28461" y="146860"/>
                    </a:cubicBezTo>
                    <a:lnTo>
                      <a:pt x="21225" y="151780"/>
                    </a:lnTo>
                    <a:lnTo>
                      <a:pt x="14954" y="145509"/>
                    </a:lnTo>
                    <a:lnTo>
                      <a:pt x="19874" y="138273"/>
                    </a:lnTo>
                    <a:cubicBezTo>
                      <a:pt x="22093" y="135089"/>
                      <a:pt x="21322" y="130748"/>
                      <a:pt x="18138" y="128625"/>
                    </a:cubicBezTo>
                    <a:cubicBezTo>
                      <a:pt x="17366" y="128046"/>
                      <a:pt x="16498" y="127661"/>
                      <a:pt x="15629" y="127468"/>
                    </a:cubicBezTo>
                    <a:lnTo>
                      <a:pt x="6946" y="125731"/>
                    </a:lnTo>
                    <a:lnTo>
                      <a:pt x="6946" y="117434"/>
                    </a:lnTo>
                    <a:lnTo>
                      <a:pt x="15629" y="115601"/>
                    </a:lnTo>
                    <a:cubicBezTo>
                      <a:pt x="19392" y="114829"/>
                      <a:pt x="21708" y="111163"/>
                      <a:pt x="20936" y="107400"/>
                    </a:cubicBezTo>
                    <a:cubicBezTo>
                      <a:pt x="20743" y="106532"/>
                      <a:pt x="20453" y="105664"/>
                      <a:pt x="19874" y="104892"/>
                    </a:cubicBezTo>
                    <a:lnTo>
                      <a:pt x="14954" y="97656"/>
                    </a:lnTo>
                    <a:lnTo>
                      <a:pt x="21225" y="91385"/>
                    </a:lnTo>
                    <a:lnTo>
                      <a:pt x="28461" y="96305"/>
                    </a:lnTo>
                    <a:cubicBezTo>
                      <a:pt x="29670" y="97148"/>
                      <a:pt x="31045" y="97545"/>
                      <a:pt x="32403" y="97545"/>
                    </a:cubicBezTo>
                    <a:cubicBezTo>
                      <a:pt x="34621" y="97545"/>
                      <a:pt x="36792" y="96484"/>
                      <a:pt x="38109" y="94569"/>
                    </a:cubicBezTo>
                    <a:cubicBezTo>
                      <a:pt x="38688" y="93797"/>
                      <a:pt x="38977" y="92929"/>
                      <a:pt x="39170" y="92060"/>
                    </a:cubicBezTo>
                    <a:lnTo>
                      <a:pt x="39845" y="89166"/>
                    </a:lnTo>
                    <a:close/>
                    <a:moveTo>
                      <a:pt x="118957" y="177154"/>
                    </a:moveTo>
                    <a:lnTo>
                      <a:pt x="118957" y="184100"/>
                    </a:lnTo>
                    <a:lnTo>
                      <a:pt x="91172" y="184100"/>
                    </a:lnTo>
                    <a:lnTo>
                      <a:pt x="91172" y="177154"/>
                    </a:lnTo>
                    <a:close/>
                    <a:moveTo>
                      <a:pt x="118957" y="191047"/>
                    </a:moveTo>
                    <a:lnTo>
                      <a:pt x="118957" y="194520"/>
                    </a:lnTo>
                    <a:cubicBezTo>
                      <a:pt x="118957" y="198282"/>
                      <a:pt x="115870" y="201466"/>
                      <a:pt x="112011" y="201466"/>
                    </a:cubicBezTo>
                    <a:lnTo>
                      <a:pt x="98118" y="201466"/>
                    </a:lnTo>
                    <a:cubicBezTo>
                      <a:pt x="94355" y="201466"/>
                      <a:pt x="91172" y="198282"/>
                      <a:pt x="91172" y="194520"/>
                    </a:cubicBezTo>
                    <a:lnTo>
                      <a:pt x="91172" y="191047"/>
                    </a:lnTo>
                    <a:close/>
                    <a:moveTo>
                      <a:pt x="146950" y="1"/>
                    </a:moveTo>
                    <a:cubicBezTo>
                      <a:pt x="145260" y="1"/>
                      <a:pt x="143732" y="1213"/>
                      <a:pt x="143463" y="3011"/>
                    </a:cubicBezTo>
                    <a:lnTo>
                      <a:pt x="141533" y="16518"/>
                    </a:lnTo>
                    <a:cubicBezTo>
                      <a:pt x="141272" y="18262"/>
                      <a:pt x="139828" y="19454"/>
                      <a:pt x="138129" y="19454"/>
                    </a:cubicBezTo>
                    <a:cubicBezTo>
                      <a:pt x="137948" y="19454"/>
                      <a:pt x="137763" y="19440"/>
                      <a:pt x="137577" y="19412"/>
                    </a:cubicBezTo>
                    <a:cubicBezTo>
                      <a:pt x="136709" y="19316"/>
                      <a:pt x="135841" y="18833"/>
                      <a:pt x="135262" y="18062"/>
                    </a:cubicBezTo>
                    <a:lnTo>
                      <a:pt x="127061" y="7160"/>
                    </a:lnTo>
                    <a:cubicBezTo>
                      <a:pt x="126437" y="6251"/>
                      <a:pt x="125411" y="5777"/>
                      <a:pt x="124357" y="5777"/>
                    </a:cubicBezTo>
                    <a:cubicBezTo>
                      <a:pt x="123621" y="5777"/>
                      <a:pt x="122872" y="6008"/>
                      <a:pt x="122238" y="6484"/>
                    </a:cubicBezTo>
                    <a:lnTo>
                      <a:pt x="111818" y="14299"/>
                    </a:lnTo>
                    <a:cubicBezTo>
                      <a:pt x="109454" y="14058"/>
                      <a:pt x="107090" y="13937"/>
                      <a:pt x="104727" y="13937"/>
                    </a:cubicBezTo>
                    <a:cubicBezTo>
                      <a:pt x="102363" y="13937"/>
                      <a:pt x="99999" y="14058"/>
                      <a:pt x="97636" y="14299"/>
                    </a:cubicBezTo>
                    <a:cubicBezTo>
                      <a:pt x="66666" y="17869"/>
                      <a:pt x="42450" y="42471"/>
                      <a:pt x="39459" y="73440"/>
                    </a:cubicBezTo>
                    <a:cubicBezTo>
                      <a:pt x="39363" y="74501"/>
                      <a:pt x="39267" y="75466"/>
                      <a:pt x="39267" y="76431"/>
                    </a:cubicBezTo>
                    <a:lnTo>
                      <a:pt x="38205" y="76431"/>
                    </a:lnTo>
                    <a:cubicBezTo>
                      <a:pt x="36565" y="76431"/>
                      <a:pt x="35118" y="77589"/>
                      <a:pt x="34829" y="79229"/>
                    </a:cubicBezTo>
                    <a:lnTo>
                      <a:pt x="32417" y="90613"/>
                    </a:lnTo>
                    <a:lnTo>
                      <a:pt x="22769" y="83956"/>
                    </a:lnTo>
                    <a:cubicBezTo>
                      <a:pt x="22185" y="83539"/>
                      <a:pt x="21511" y="83338"/>
                      <a:pt x="20833" y="83338"/>
                    </a:cubicBezTo>
                    <a:cubicBezTo>
                      <a:pt x="19942" y="83338"/>
                      <a:pt x="19043" y="83685"/>
                      <a:pt x="18331" y="84342"/>
                    </a:cubicBezTo>
                    <a:lnTo>
                      <a:pt x="7911" y="94762"/>
                    </a:lnTo>
                    <a:cubicBezTo>
                      <a:pt x="6753" y="96016"/>
                      <a:pt x="6560" y="97849"/>
                      <a:pt x="7525" y="99200"/>
                    </a:cubicBezTo>
                    <a:lnTo>
                      <a:pt x="14182" y="108847"/>
                    </a:lnTo>
                    <a:lnTo>
                      <a:pt x="2701" y="111259"/>
                    </a:lnTo>
                    <a:cubicBezTo>
                      <a:pt x="1158" y="111549"/>
                      <a:pt x="0" y="112996"/>
                      <a:pt x="0" y="114636"/>
                    </a:cubicBezTo>
                    <a:lnTo>
                      <a:pt x="0" y="128529"/>
                    </a:lnTo>
                    <a:cubicBezTo>
                      <a:pt x="0" y="130169"/>
                      <a:pt x="1158" y="131616"/>
                      <a:pt x="2798" y="131906"/>
                    </a:cubicBezTo>
                    <a:lnTo>
                      <a:pt x="14182" y="134318"/>
                    </a:lnTo>
                    <a:lnTo>
                      <a:pt x="7622" y="143869"/>
                    </a:lnTo>
                    <a:cubicBezTo>
                      <a:pt x="6657" y="145316"/>
                      <a:pt x="6753" y="147149"/>
                      <a:pt x="8008" y="148307"/>
                    </a:cubicBezTo>
                    <a:lnTo>
                      <a:pt x="18427" y="158726"/>
                    </a:lnTo>
                    <a:cubicBezTo>
                      <a:pt x="19085" y="159384"/>
                      <a:pt x="19960" y="159730"/>
                      <a:pt x="20858" y="159730"/>
                    </a:cubicBezTo>
                    <a:cubicBezTo>
                      <a:pt x="21542" y="159730"/>
                      <a:pt x="22240" y="159529"/>
                      <a:pt x="22865" y="159112"/>
                    </a:cubicBezTo>
                    <a:lnTo>
                      <a:pt x="32417" y="152552"/>
                    </a:lnTo>
                    <a:lnTo>
                      <a:pt x="34829" y="163936"/>
                    </a:lnTo>
                    <a:cubicBezTo>
                      <a:pt x="35118" y="165576"/>
                      <a:pt x="36565" y="166734"/>
                      <a:pt x="38205" y="166734"/>
                    </a:cubicBezTo>
                    <a:lnTo>
                      <a:pt x="52098" y="166734"/>
                    </a:lnTo>
                    <a:cubicBezTo>
                      <a:pt x="53738" y="166734"/>
                      <a:pt x="55185" y="165576"/>
                      <a:pt x="55475" y="163936"/>
                    </a:cubicBezTo>
                    <a:lnTo>
                      <a:pt x="57887" y="152552"/>
                    </a:lnTo>
                    <a:lnTo>
                      <a:pt x="67535" y="159112"/>
                    </a:lnTo>
                    <a:cubicBezTo>
                      <a:pt x="68118" y="159529"/>
                      <a:pt x="68792" y="159730"/>
                      <a:pt x="69463" y="159730"/>
                    </a:cubicBezTo>
                    <a:cubicBezTo>
                      <a:pt x="70344" y="159730"/>
                      <a:pt x="71219" y="159384"/>
                      <a:pt x="71876" y="158726"/>
                    </a:cubicBezTo>
                    <a:lnTo>
                      <a:pt x="77279" y="153324"/>
                    </a:lnTo>
                    <a:lnTo>
                      <a:pt x="77279" y="163261"/>
                    </a:lnTo>
                    <a:cubicBezTo>
                      <a:pt x="77375" y="168181"/>
                      <a:pt x="79980" y="172716"/>
                      <a:pt x="84225" y="175224"/>
                    </a:cubicBezTo>
                    <a:lnTo>
                      <a:pt x="84225" y="194520"/>
                    </a:lnTo>
                    <a:cubicBezTo>
                      <a:pt x="84225" y="202142"/>
                      <a:pt x="90496" y="208413"/>
                      <a:pt x="98118" y="208413"/>
                    </a:cubicBezTo>
                    <a:lnTo>
                      <a:pt x="112011" y="208413"/>
                    </a:lnTo>
                    <a:cubicBezTo>
                      <a:pt x="119729" y="208413"/>
                      <a:pt x="125904" y="202142"/>
                      <a:pt x="125904" y="194520"/>
                    </a:cubicBezTo>
                    <a:lnTo>
                      <a:pt x="125904" y="175224"/>
                    </a:lnTo>
                    <a:cubicBezTo>
                      <a:pt x="130245" y="172716"/>
                      <a:pt x="132850" y="168181"/>
                      <a:pt x="132850" y="163261"/>
                    </a:cubicBezTo>
                    <a:lnTo>
                      <a:pt x="132850" y="149465"/>
                    </a:lnTo>
                    <a:cubicBezTo>
                      <a:pt x="132947" y="143676"/>
                      <a:pt x="136034" y="138370"/>
                      <a:pt x="140954" y="135282"/>
                    </a:cubicBezTo>
                    <a:cubicBezTo>
                      <a:pt x="143752" y="133449"/>
                      <a:pt x="146550" y="131327"/>
                      <a:pt x="149058" y="129108"/>
                    </a:cubicBezTo>
                    <a:lnTo>
                      <a:pt x="144427" y="123898"/>
                    </a:lnTo>
                    <a:cubicBezTo>
                      <a:pt x="142208" y="125924"/>
                      <a:pt x="139700" y="127854"/>
                      <a:pt x="137095" y="129494"/>
                    </a:cubicBezTo>
                    <a:cubicBezTo>
                      <a:pt x="130245" y="133835"/>
                      <a:pt x="126000" y="141360"/>
                      <a:pt x="125904" y="149465"/>
                    </a:cubicBezTo>
                    <a:lnTo>
                      <a:pt x="125904" y="163261"/>
                    </a:lnTo>
                    <a:cubicBezTo>
                      <a:pt x="125904" y="167024"/>
                      <a:pt x="122816" y="170207"/>
                      <a:pt x="118957" y="170207"/>
                    </a:cubicBezTo>
                    <a:lnTo>
                      <a:pt x="91172" y="170207"/>
                    </a:lnTo>
                    <a:cubicBezTo>
                      <a:pt x="87409" y="170207"/>
                      <a:pt x="84225" y="167024"/>
                      <a:pt x="84225" y="163261"/>
                    </a:cubicBezTo>
                    <a:lnTo>
                      <a:pt x="84225" y="149175"/>
                    </a:lnTo>
                    <a:cubicBezTo>
                      <a:pt x="84225" y="141167"/>
                      <a:pt x="79980" y="133835"/>
                      <a:pt x="73227" y="129590"/>
                    </a:cubicBezTo>
                    <a:cubicBezTo>
                      <a:pt x="45731" y="112321"/>
                      <a:pt x="37433" y="75948"/>
                      <a:pt x="54703" y="48452"/>
                    </a:cubicBezTo>
                    <a:cubicBezTo>
                      <a:pt x="65412" y="31376"/>
                      <a:pt x="84225" y="20956"/>
                      <a:pt x="104389" y="20860"/>
                    </a:cubicBezTo>
                    <a:lnTo>
                      <a:pt x="104389" y="20860"/>
                    </a:lnTo>
                    <a:lnTo>
                      <a:pt x="104196" y="21245"/>
                    </a:lnTo>
                    <a:cubicBezTo>
                      <a:pt x="104100" y="22210"/>
                      <a:pt x="104293" y="23079"/>
                      <a:pt x="104871" y="23850"/>
                    </a:cubicBezTo>
                    <a:lnTo>
                      <a:pt x="113072" y="34752"/>
                    </a:lnTo>
                    <a:cubicBezTo>
                      <a:pt x="113940" y="35910"/>
                      <a:pt x="114037" y="37454"/>
                      <a:pt x="113265" y="38611"/>
                    </a:cubicBezTo>
                    <a:cubicBezTo>
                      <a:pt x="112694" y="39672"/>
                      <a:pt x="111572" y="40318"/>
                      <a:pt x="110423" y="40318"/>
                    </a:cubicBezTo>
                    <a:cubicBezTo>
                      <a:pt x="110212" y="40318"/>
                      <a:pt x="110001" y="40296"/>
                      <a:pt x="109792" y="40252"/>
                    </a:cubicBezTo>
                    <a:lnTo>
                      <a:pt x="96285" y="38322"/>
                    </a:lnTo>
                    <a:cubicBezTo>
                      <a:pt x="96154" y="38309"/>
                      <a:pt x="96024" y="38302"/>
                      <a:pt x="95895" y="38302"/>
                    </a:cubicBezTo>
                    <a:cubicBezTo>
                      <a:pt x="94126" y="38302"/>
                      <a:pt x="92599" y="39514"/>
                      <a:pt x="92329" y="41313"/>
                    </a:cubicBezTo>
                    <a:lnTo>
                      <a:pt x="89435" y="61959"/>
                    </a:lnTo>
                    <a:cubicBezTo>
                      <a:pt x="89146" y="63792"/>
                      <a:pt x="90496" y="65625"/>
                      <a:pt x="92329" y="65915"/>
                    </a:cubicBezTo>
                    <a:lnTo>
                      <a:pt x="105836" y="67844"/>
                    </a:lnTo>
                    <a:cubicBezTo>
                      <a:pt x="107766" y="68037"/>
                      <a:pt x="109117" y="69870"/>
                      <a:pt x="108827" y="71703"/>
                    </a:cubicBezTo>
                    <a:cubicBezTo>
                      <a:pt x="108731" y="72668"/>
                      <a:pt x="108248" y="73440"/>
                      <a:pt x="107476" y="74019"/>
                    </a:cubicBezTo>
                    <a:lnTo>
                      <a:pt x="96574" y="82219"/>
                    </a:lnTo>
                    <a:cubicBezTo>
                      <a:pt x="95031" y="83377"/>
                      <a:pt x="94741" y="85500"/>
                      <a:pt x="95899" y="87043"/>
                    </a:cubicBezTo>
                    <a:lnTo>
                      <a:pt x="108345" y="103734"/>
                    </a:lnTo>
                    <a:cubicBezTo>
                      <a:pt x="109026" y="104643"/>
                      <a:pt x="110076" y="105117"/>
                      <a:pt x="111139" y="105117"/>
                    </a:cubicBezTo>
                    <a:cubicBezTo>
                      <a:pt x="111881" y="105117"/>
                      <a:pt x="112630" y="104886"/>
                      <a:pt x="113265" y="104409"/>
                    </a:cubicBezTo>
                    <a:lnTo>
                      <a:pt x="124167" y="96209"/>
                    </a:lnTo>
                    <a:cubicBezTo>
                      <a:pt x="124776" y="95752"/>
                      <a:pt x="125475" y="95536"/>
                      <a:pt x="126169" y="95536"/>
                    </a:cubicBezTo>
                    <a:cubicBezTo>
                      <a:pt x="127235" y="95536"/>
                      <a:pt x="128290" y="96046"/>
                      <a:pt x="128991" y="96981"/>
                    </a:cubicBezTo>
                    <a:cubicBezTo>
                      <a:pt x="129570" y="97656"/>
                      <a:pt x="129763" y="98621"/>
                      <a:pt x="129666" y="99489"/>
                    </a:cubicBezTo>
                    <a:lnTo>
                      <a:pt x="127737" y="112996"/>
                    </a:lnTo>
                    <a:cubicBezTo>
                      <a:pt x="127447" y="114925"/>
                      <a:pt x="128798" y="116662"/>
                      <a:pt x="130631" y="116952"/>
                    </a:cubicBezTo>
                    <a:lnTo>
                      <a:pt x="151277" y="119942"/>
                    </a:lnTo>
                    <a:lnTo>
                      <a:pt x="151760" y="119942"/>
                    </a:lnTo>
                    <a:cubicBezTo>
                      <a:pt x="153496" y="119942"/>
                      <a:pt x="154944" y="118688"/>
                      <a:pt x="155233" y="116952"/>
                    </a:cubicBezTo>
                    <a:lnTo>
                      <a:pt x="157163" y="103445"/>
                    </a:lnTo>
                    <a:cubicBezTo>
                      <a:pt x="157432" y="101646"/>
                      <a:pt x="158959" y="100434"/>
                      <a:pt x="160728" y="100434"/>
                    </a:cubicBezTo>
                    <a:cubicBezTo>
                      <a:pt x="160857" y="100434"/>
                      <a:pt x="160987" y="100441"/>
                      <a:pt x="161118" y="100454"/>
                    </a:cubicBezTo>
                    <a:cubicBezTo>
                      <a:pt x="161986" y="100647"/>
                      <a:pt x="162855" y="101129"/>
                      <a:pt x="163337" y="101804"/>
                    </a:cubicBezTo>
                    <a:lnTo>
                      <a:pt x="171538" y="112803"/>
                    </a:lnTo>
                    <a:cubicBezTo>
                      <a:pt x="172232" y="113671"/>
                      <a:pt x="173309" y="114158"/>
                      <a:pt x="174393" y="114158"/>
                    </a:cubicBezTo>
                    <a:cubicBezTo>
                      <a:pt x="175115" y="114158"/>
                      <a:pt x="175841" y="113941"/>
                      <a:pt x="176458" y="113478"/>
                    </a:cubicBezTo>
                    <a:lnTo>
                      <a:pt x="193052" y="100936"/>
                    </a:lnTo>
                    <a:cubicBezTo>
                      <a:pt x="194596" y="99778"/>
                      <a:pt x="194982" y="97656"/>
                      <a:pt x="193824" y="96112"/>
                    </a:cubicBezTo>
                    <a:lnTo>
                      <a:pt x="185623" y="85210"/>
                    </a:lnTo>
                    <a:cubicBezTo>
                      <a:pt x="184755" y="84053"/>
                      <a:pt x="184659" y="82509"/>
                      <a:pt x="185431" y="81351"/>
                    </a:cubicBezTo>
                    <a:cubicBezTo>
                      <a:pt x="186029" y="80239"/>
                      <a:pt x="187159" y="79582"/>
                      <a:pt x="188417" y="79582"/>
                    </a:cubicBezTo>
                    <a:cubicBezTo>
                      <a:pt x="188577" y="79582"/>
                      <a:pt x="188740" y="79593"/>
                      <a:pt x="188904" y="79615"/>
                    </a:cubicBezTo>
                    <a:lnTo>
                      <a:pt x="202411" y="81544"/>
                    </a:lnTo>
                    <a:cubicBezTo>
                      <a:pt x="202587" y="81572"/>
                      <a:pt x="202764" y="81586"/>
                      <a:pt x="202939" y="81586"/>
                    </a:cubicBezTo>
                    <a:cubicBezTo>
                      <a:pt x="204582" y="81586"/>
                      <a:pt x="206095" y="80393"/>
                      <a:pt x="206270" y="78650"/>
                    </a:cubicBezTo>
                    <a:lnTo>
                      <a:pt x="209261" y="58004"/>
                    </a:lnTo>
                    <a:cubicBezTo>
                      <a:pt x="209550" y="56074"/>
                      <a:pt x="208199" y="54337"/>
                      <a:pt x="206270" y="54048"/>
                    </a:cubicBezTo>
                    <a:lnTo>
                      <a:pt x="192763" y="52118"/>
                    </a:lnTo>
                    <a:cubicBezTo>
                      <a:pt x="190930" y="51829"/>
                      <a:pt x="189579" y="50092"/>
                      <a:pt x="189869" y="48259"/>
                    </a:cubicBezTo>
                    <a:cubicBezTo>
                      <a:pt x="189965" y="47294"/>
                      <a:pt x="190447" y="46523"/>
                      <a:pt x="191219" y="45944"/>
                    </a:cubicBezTo>
                    <a:lnTo>
                      <a:pt x="202121" y="37743"/>
                    </a:lnTo>
                    <a:cubicBezTo>
                      <a:pt x="203665" y="36585"/>
                      <a:pt x="203954" y="34366"/>
                      <a:pt x="202797" y="32919"/>
                    </a:cubicBezTo>
                    <a:lnTo>
                      <a:pt x="190351" y="16229"/>
                    </a:lnTo>
                    <a:cubicBezTo>
                      <a:pt x="189669" y="15320"/>
                      <a:pt x="188620" y="14846"/>
                      <a:pt x="187557" y="14846"/>
                    </a:cubicBezTo>
                    <a:cubicBezTo>
                      <a:pt x="186814" y="14846"/>
                      <a:pt x="186065" y="15077"/>
                      <a:pt x="185431" y="15553"/>
                    </a:cubicBezTo>
                    <a:lnTo>
                      <a:pt x="174529" y="23657"/>
                    </a:lnTo>
                    <a:cubicBezTo>
                      <a:pt x="173892" y="24175"/>
                      <a:pt x="173157" y="24413"/>
                      <a:pt x="172432" y="24413"/>
                    </a:cubicBezTo>
                    <a:cubicBezTo>
                      <a:pt x="171398" y="24413"/>
                      <a:pt x="170385" y="23929"/>
                      <a:pt x="169705" y="23079"/>
                    </a:cubicBezTo>
                    <a:cubicBezTo>
                      <a:pt x="169126" y="22307"/>
                      <a:pt x="168836" y="21342"/>
                      <a:pt x="169029" y="20474"/>
                    </a:cubicBezTo>
                    <a:lnTo>
                      <a:pt x="170959" y="6967"/>
                    </a:lnTo>
                    <a:cubicBezTo>
                      <a:pt x="171152" y="5037"/>
                      <a:pt x="169898" y="3301"/>
                      <a:pt x="167968" y="3011"/>
                    </a:cubicBezTo>
                    <a:lnTo>
                      <a:pt x="147322" y="20"/>
                    </a:lnTo>
                    <a:cubicBezTo>
                      <a:pt x="147197" y="7"/>
                      <a:pt x="147073" y="1"/>
                      <a:pt x="1469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0" name="Google Shape;1080;h67e7f9494e76f90c_1_44"/>
              <p:cNvSpPr/>
              <p:nvPr/>
            </p:nvSpPr>
            <p:spPr>
              <a:xfrm>
                <a:off x="4616640" y="1189440"/>
                <a:ext cx="156574" cy="156574"/>
              </a:xfrm>
              <a:custGeom>
                <a:rect b="b" l="l" r="r" t="t"/>
                <a:pathLst>
                  <a:path extrusionOk="0" h="55572" w="55572">
                    <a:moveTo>
                      <a:pt x="27786" y="6947"/>
                    </a:moveTo>
                    <a:cubicBezTo>
                      <a:pt x="39267" y="6947"/>
                      <a:pt x="48625" y="16305"/>
                      <a:pt x="48625" y="27786"/>
                    </a:cubicBezTo>
                    <a:cubicBezTo>
                      <a:pt x="48625" y="39363"/>
                      <a:pt x="39267" y="48625"/>
                      <a:pt x="27786" y="48625"/>
                    </a:cubicBezTo>
                    <a:cubicBezTo>
                      <a:pt x="16305" y="48625"/>
                      <a:pt x="6947" y="39363"/>
                      <a:pt x="6947" y="27786"/>
                    </a:cubicBezTo>
                    <a:cubicBezTo>
                      <a:pt x="6947" y="16305"/>
                      <a:pt x="16305" y="6947"/>
                      <a:pt x="27786" y="6947"/>
                    </a:cubicBezTo>
                    <a:close/>
                    <a:moveTo>
                      <a:pt x="27786" y="0"/>
                    </a:moveTo>
                    <a:cubicBezTo>
                      <a:pt x="12446" y="0"/>
                      <a:pt x="0" y="12446"/>
                      <a:pt x="0" y="27786"/>
                    </a:cubicBezTo>
                    <a:cubicBezTo>
                      <a:pt x="0" y="43126"/>
                      <a:pt x="12446" y="55572"/>
                      <a:pt x="27786" y="55572"/>
                    </a:cubicBezTo>
                    <a:cubicBezTo>
                      <a:pt x="43126" y="55572"/>
                      <a:pt x="55571" y="43126"/>
                      <a:pt x="55571" y="27786"/>
                    </a:cubicBezTo>
                    <a:cubicBezTo>
                      <a:pt x="55571" y="12446"/>
                      <a:pt x="43126" y="97"/>
                      <a:pt x="277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8475" lIns="91425" spcFirstLastPara="1" rIns="91425" wrap="square" tIns="78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1" name="Google Shape;1081;h67e7f9494e76f90c_1_44"/>
              <p:cNvSpPr/>
              <p:nvPr/>
            </p:nvSpPr>
            <p:spPr>
              <a:xfrm>
                <a:off x="4563360" y="1504800"/>
                <a:ext cx="19087" cy="29150"/>
              </a:xfrm>
              <a:custGeom>
                <a:rect b="b" l="l" r="r" t="t"/>
                <a:pathLst>
                  <a:path extrusionOk="0" h="10420" w="6947">
                    <a:moveTo>
                      <a:pt x="0" y="0"/>
                    </a:moveTo>
                    <a:lnTo>
                      <a:pt x="0" y="10420"/>
                    </a:lnTo>
                    <a:lnTo>
                      <a:pt x="6947" y="10420"/>
                    </a:lnTo>
                    <a:lnTo>
                      <a:pt x="69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4750" lIns="91425" spcFirstLastPara="1" rIns="91425" wrap="square" tIns="14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2" name="Google Shape;1082;h67e7f9494e76f90c_1_44"/>
              <p:cNvSpPr/>
              <p:nvPr/>
            </p:nvSpPr>
            <p:spPr>
              <a:xfrm>
                <a:off x="4416480" y="1182960"/>
                <a:ext cx="165941" cy="302002"/>
              </a:xfrm>
              <a:custGeom>
                <a:rect b="b" l="l" r="r" t="t"/>
                <a:pathLst>
                  <a:path extrusionOk="0" h="107188" w="58949">
                    <a:moveTo>
                      <a:pt x="29619" y="1"/>
                    </a:moveTo>
                    <a:cubicBezTo>
                      <a:pt x="6851" y="14376"/>
                      <a:pt x="1" y="44381"/>
                      <a:pt x="14376" y="67053"/>
                    </a:cubicBezTo>
                    <a:cubicBezTo>
                      <a:pt x="19875" y="75929"/>
                      <a:pt x="28076" y="82683"/>
                      <a:pt x="37820" y="86445"/>
                    </a:cubicBezTo>
                    <a:cubicBezTo>
                      <a:pt x="46407" y="89725"/>
                      <a:pt x="52002" y="98022"/>
                      <a:pt x="52002" y="107188"/>
                    </a:cubicBezTo>
                    <a:lnTo>
                      <a:pt x="58949" y="107188"/>
                    </a:lnTo>
                    <a:cubicBezTo>
                      <a:pt x="58949" y="95128"/>
                      <a:pt x="51616" y="84323"/>
                      <a:pt x="40328" y="79981"/>
                    </a:cubicBezTo>
                    <a:cubicBezTo>
                      <a:pt x="18910" y="71588"/>
                      <a:pt x="8298" y="47468"/>
                      <a:pt x="16691" y="26050"/>
                    </a:cubicBezTo>
                    <a:cubicBezTo>
                      <a:pt x="19875" y="17753"/>
                      <a:pt x="25760" y="10710"/>
                      <a:pt x="33286" y="5886"/>
                    </a:cubicBezTo>
                    <a:lnTo>
                      <a:pt x="296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3" name="Google Shape;1083;h67e7f9494e76f90c_1_44"/>
              <p:cNvSpPr/>
              <p:nvPr/>
            </p:nvSpPr>
            <p:spPr>
              <a:xfrm>
                <a:off x="4759200" y="1436400"/>
                <a:ext cx="68380" cy="19072"/>
              </a:xfrm>
              <a:custGeom>
                <a:rect b="b" l="l" r="r" t="t"/>
                <a:pathLst>
                  <a:path extrusionOk="0" h="6948" w="24313">
                    <a:moveTo>
                      <a:pt x="0" y="1"/>
                    </a:moveTo>
                    <a:lnTo>
                      <a:pt x="0" y="6947"/>
                    </a:lnTo>
                    <a:lnTo>
                      <a:pt x="24313" y="6947"/>
                    </a:lnTo>
                    <a:lnTo>
                      <a:pt x="243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4" name="Google Shape;1084;h67e7f9494e76f90c_1_44"/>
              <p:cNvSpPr/>
              <p:nvPr/>
            </p:nvSpPr>
            <p:spPr>
              <a:xfrm>
                <a:off x="4743360" y="1487520"/>
                <a:ext cx="70905" cy="63714"/>
              </a:xfrm>
              <a:custGeom>
                <a:rect b="b" l="l" r="r" t="t"/>
                <a:pathLst>
                  <a:path extrusionOk="0" h="22674" w="25278">
                    <a:moveTo>
                      <a:pt x="4438" y="1"/>
                    </a:moveTo>
                    <a:lnTo>
                      <a:pt x="0" y="5307"/>
                    </a:lnTo>
                    <a:lnTo>
                      <a:pt x="20839" y="22673"/>
                    </a:lnTo>
                    <a:lnTo>
                      <a:pt x="25277" y="17367"/>
                    </a:lnTo>
                    <a:lnTo>
                      <a:pt x="44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2025" lIns="91425" spcFirstLastPara="1" rIns="91425" wrap="square" tIns="32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5" name="Google Shape;1085;h67e7f9494e76f90c_1_44"/>
              <p:cNvSpPr/>
              <p:nvPr/>
            </p:nvSpPr>
            <p:spPr>
              <a:xfrm>
                <a:off x="4700520" y="1514880"/>
                <a:ext cx="19087" cy="68380"/>
              </a:xfrm>
              <a:custGeom>
                <a:rect b="b" l="l" r="r" t="t"/>
                <a:pathLst>
                  <a:path extrusionOk="0" h="24313" w="6947">
                    <a:moveTo>
                      <a:pt x="0" y="1"/>
                    </a:moveTo>
                    <a:lnTo>
                      <a:pt x="0" y="24313"/>
                    </a:lnTo>
                    <a:lnTo>
                      <a:pt x="6947" y="24313"/>
                    </a:lnTo>
                    <a:lnTo>
                      <a:pt x="69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00" lIns="91425" spcFirstLastPara="1" rIns="91425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6" name="Google Shape;1086;h67e7f9494e76f90c_1_44"/>
              <p:cNvSpPr/>
              <p:nvPr/>
            </p:nvSpPr>
            <p:spPr>
              <a:xfrm>
                <a:off x="4286520" y="1221120"/>
                <a:ext cx="82763" cy="38157"/>
              </a:xfrm>
              <a:custGeom>
                <a:rect b="b" l="l" r="r" t="t"/>
                <a:pathLst>
                  <a:path extrusionOk="0" h="13701" w="29427">
                    <a:moveTo>
                      <a:pt x="27786" y="1"/>
                    </a:moveTo>
                    <a:lnTo>
                      <a:pt x="1" y="6947"/>
                    </a:lnTo>
                    <a:lnTo>
                      <a:pt x="1641" y="13701"/>
                    </a:lnTo>
                    <a:lnTo>
                      <a:pt x="29426" y="6754"/>
                    </a:lnTo>
                    <a:lnTo>
                      <a:pt x="277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9075" lIns="91425" spcFirstLastPara="1" rIns="91425" wrap="square" tIns="19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7" name="Google Shape;1087;h67e7f9494e76f90c_1_44"/>
              <p:cNvSpPr/>
              <p:nvPr/>
            </p:nvSpPr>
            <p:spPr>
              <a:xfrm>
                <a:off x="4303080" y="1124640"/>
                <a:ext cx="79577" cy="64469"/>
              </a:xfrm>
              <a:custGeom>
                <a:rect b="b" l="l" r="r" t="t"/>
                <a:pathLst>
                  <a:path extrusionOk="0" h="22963" w="28269">
                    <a:moveTo>
                      <a:pt x="3956" y="1"/>
                    </a:moveTo>
                    <a:lnTo>
                      <a:pt x="0" y="5596"/>
                    </a:lnTo>
                    <a:lnTo>
                      <a:pt x="24313" y="22962"/>
                    </a:lnTo>
                    <a:lnTo>
                      <a:pt x="28268" y="17367"/>
                    </a:lnTo>
                    <a:lnTo>
                      <a:pt x="39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2400" lIns="91425" spcFirstLastPara="1" rIns="91425" wrap="square" tIns="32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8" name="Google Shape;1088;h67e7f9494e76f90c_1_44"/>
              <p:cNvSpPr/>
              <p:nvPr/>
            </p:nvSpPr>
            <p:spPr>
              <a:xfrm>
                <a:off x="4386960" y="1071000"/>
                <a:ext cx="38528" cy="82812"/>
              </a:xfrm>
              <a:custGeom>
                <a:rect b="b" l="l" r="r" t="t"/>
                <a:pathLst>
                  <a:path extrusionOk="0" h="29523" w="13797">
                    <a:moveTo>
                      <a:pt x="6754" y="0"/>
                    </a:moveTo>
                    <a:lnTo>
                      <a:pt x="1" y="1737"/>
                    </a:lnTo>
                    <a:lnTo>
                      <a:pt x="7140" y="29522"/>
                    </a:lnTo>
                    <a:lnTo>
                      <a:pt x="13797" y="27786"/>
                    </a:lnTo>
                    <a:lnTo>
                      <a:pt x="67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1400" lIns="91425" spcFirstLastPara="1" rIns="91425" wrap="square" tIns="41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089" name="Google Shape;1089;h67e7f9494e76f90c_1_44"/>
          <p:cNvSpPr/>
          <p:nvPr/>
        </p:nvSpPr>
        <p:spPr>
          <a:xfrm>
            <a:off x="1790640" y="2476440"/>
            <a:ext cx="55527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Hạn chế / hướng phát triển</a:t>
            </a:r>
            <a:endParaRPr b="0" sz="196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90" name="Google Shape;1090;h67e7f9494e76f90c_1_44"/>
          <p:cNvSpPr/>
          <p:nvPr/>
        </p:nvSpPr>
        <p:spPr>
          <a:xfrm>
            <a:off x="2260575" y="2828525"/>
            <a:ext cx="5658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960" lvl="0" marL="45720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360"/>
              <a:buFont typeface="Barlow Semi Condensed"/>
              <a:buChar char="-"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Số lượng giao dịch gian lận nhỏ, chưa học được nhiều đặc trưng của loại này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4960" lvl="0" marL="45720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360"/>
              <a:buFont typeface="Barlow Semi Condensed"/>
              <a:buChar char="-"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Thêm thử nghiệm bỏ bớt các đặc trưng khác / thay đổi encoder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4960" lvl="0" marL="45720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360"/>
              <a:buFont typeface="Barlow Semi Condensed"/>
              <a:buChar char="-"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Cải thiện Recall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4960" lvl="0" marL="45720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360"/>
              <a:buFont typeface="Barlow Semi Condensed"/>
              <a:buChar char="-"/>
            </a:pPr>
            <a:r>
              <a:rPr lang="en-US" sz="136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Thử nghiệm trên bộ dữ liệu khác</a:t>
            </a:r>
            <a:endParaRPr sz="136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91" name="Google Shape;1091;h67e7f9494e76f90c_1_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8"/>
          <p:cNvSpPr txBox="1"/>
          <p:nvPr>
            <p:ph type="title"/>
          </p:nvPr>
        </p:nvSpPr>
        <p:spPr>
          <a:xfrm>
            <a:off x="2190400" y="1101597"/>
            <a:ext cx="4933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Fjalla One"/>
              <a:buNone/>
            </a:pPr>
            <a:r>
              <a:rPr b="0" lang="en-US" sz="5000" u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Thank</a:t>
            </a:r>
            <a:r>
              <a:rPr lang="en-US" sz="50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 you for your attention!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8"/>
          <p:cNvSpPr txBox="1"/>
          <p:nvPr>
            <p:ph idx="1" type="subTitle"/>
          </p:nvPr>
        </p:nvSpPr>
        <p:spPr>
          <a:xfrm>
            <a:off x="2676600" y="4229280"/>
            <a:ext cx="3790440" cy="426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Barlow Semi Condensed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Please keep this slide for attribution</a:t>
            </a:r>
            <a:endParaRPr b="0"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98" name="Google Shape;1098;p18"/>
          <p:cNvGrpSpPr/>
          <p:nvPr/>
        </p:nvGrpSpPr>
        <p:grpSpPr>
          <a:xfrm>
            <a:off x="3733920" y="3221640"/>
            <a:ext cx="1680840" cy="338040"/>
            <a:chOff x="3733920" y="3221640"/>
            <a:chExt cx="1680840" cy="338040"/>
          </a:xfrm>
        </p:grpSpPr>
        <p:sp>
          <p:nvSpPr>
            <p:cNvPr id="1099" name="Google Shape;1099;p18"/>
            <p:cNvSpPr/>
            <p:nvPr/>
          </p:nvSpPr>
          <p:spPr>
            <a:xfrm>
              <a:off x="3733920" y="3221640"/>
              <a:ext cx="338040" cy="338040"/>
            </a:xfrm>
            <a:custGeom>
              <a:rect b="b" l="l" r="r" t="t"/>
              <a:pathLst>
                <a:path extrusionOk="0" h="19982" w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100" name="Google Shape;1100;p18"/>
            <p:cNvGrpSpPr/>
            <p:nvPr/>
          </p:nvGrpSpPr>
          <p:grpSpPr>
            <a:xfrm>
              <a:off x="4165920" y="3221640"/>
              <a:ext cx="338040" cy="338040"/>
              <a:chOff x="4165920" y="3221640"/>
              <a:chExt cx="338040" cy="338040"/>
            </a:xfrm>
          </p:grpSpPr>
          <p:sp>
            <p:nvSpPr>
              <p:cNvPr id="1101" name="Google Shape;1101;p18"/>
              <p:cNvSpPr/>
              <p:nvPr/>
            </p:nvSpPr>
            <p:spPr>
              <a:xfrm>
                <a:off x="4266000" y="3321360"/>
                <a:ext cx="138600" cy="138600"/>
              </a:xfrm>
              <a:custGeom>
                <a:rect b="b" l="l" r="r" t="t"/>
                <a:pathLst>
                  <a:path extrusionOk="0" h="8197" w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475" lIns="91425" spcFirstLastPara="1" rIns="91425" wrap="square" tIns="69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2" name="Google Shape;1102;p18"/>
              <p:cNvSpPr/>
              <p:nvPr/>
            </p:nvSpPr>
            <p:spPr>
              <a:xfrm>
                <a:off x="4205880" y="3261240"/>
                <a:ext cx="258840" cy="258840"/>
              </a:xfrm>
              <a:custGeom>
                <a:rect b="b" l="l" r="r" t="t"/>
                <a:pathLst>
                  <a:path extrusionOk="0" h="15299" w="1530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3" name="Google Shape;1103;p18"/>
              <p:cNvSpPr/>
              <p:nvPr/>
            </p:nvSpPr>
            <p:spPr>
              <a:xfrm>
                <a:off x="4165920" y="3221640"/>
                <a:ext cx="338040" cy="338040"/>
              </a:xfrm>
              <a:custGeom>
                <a:rect b="b" l="l" r="r" t="t"/>
                <a:pathLst>
                  <a:path extrusionOk="0" h="19982" w="19984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4" name="Google Shape;1104;p18"/>
              <p:cNvSpPr/>
              <p:nvPr/>
            </p:nvSpPr>
            <p:spPr>
              <a:xfrm>
                <a:off x="4384800" y="3301560"/>
                <a:ext cx="39240" cy="39240"/>
              </a:xfrm>
              <a:custGeom>
                <a:rect b="b" l="l" r="r" t="t"/>
                <a:pathLst>
                  <a:path extrusionOk="0" h="2343" w="2342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9800" lIns="91425" spcFirstLastPara="1" rIns="91425" wrap="square" tIns="19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05" name="Google Shape;1105;p18"/>
            <p:cNvGrpSpPr/>
            <p:nvPr/>
          </p:nvGrpSpPr>
          <p:grpSpPr>
            <a:xfrm>
              <a:off x="4598280" y="3221640"/>
              <a:ext cx="338040" cy="338040"/>
              <a:chOff x="4598280" y="3221640"/>
              <a:chExt cx="338040" cy="338040"/>
            </a:xfrm>
          </p:grpSpPr>
          <p:sp>
            <p:nvSpPr>
              <p:cNvPr id="1106" name="Google Shape;1106;p18"/>
              <p:cNvSpPr/>
              <p:nvPr/>
            </p:nvSpPr>
            <p:spPr>
              <a:xfrm>
                <a:off x="4648680" y="3341160"/>
                <a:ext cx="59040" cy="178200"/>
              </a:xfrm>
              <a:custGeom>
                <a:rect b="b" l="l" r="r" t="t"/>
                <a:pathLst>
                  <a:path extrusionOk="0" h="10537" w="3514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89275" lIns="91425" spcFirstLastPara="1" rIns="91425" wrap="square" tIns="89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7" name="Google Shape;1107;p18"/>
              <p:cNvSpPr/>
              <p:nvPr/>
            </p:nvSpPr>
            <p:spPr>
              <a:xfrm>
                <a:off x="4648680" y="3261960"/>
                <a:ext cx="59040" cy="59040"/>
              </a:xfrm>
              <a:custGeom>
                <a:rect b="b" l="l" r="r" t="t"/>
                <a:pathLst>
                  <a:path extrusionOk="0" h="3514" w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9500" lIns="91425" spcFirstLastPara="1" rIns="91425" wrap="square" tIns="29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8" name="Google Shape;1108;p18"/>
              <p:cNvSpPr/>
              <p:nvPr/>
            </p:nvSpPr>
            <p:spPr>
              <a:xfrm>
                <a:off x="4727880" y="3340800"/>
                <a:ext cx="158400" cy="178200"/>
              </a:xfrm>
              <a:custGeom>
                <a:rect b="b" l="l" r="r" t="t"/>
                <a:pathLst>
                  <a:path extrusionOk="0" h="10556" w="9368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89275" lIns="91425" spcFirstLastPara="1" rIns="91425" wrap="square" tIns="89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9" name="Google Shape;1109;p18"/>
              <p:cNvSpPr/>
              <p:nvPr/>
            </p:nvSpPr>
            <p:spPr>
              <a:xfrm>
                <a:off x="4598280" y="3221640"/>
                <a:ext cx="338040" cy="338040"/>
              </a:xfrm>
              <a:custGeom>
                <a:rect b="b" l="l" r="r" t="t"/>
                <a:pathLst>
                  <a:path extrusionOk="0" h="19982" w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1110" name="Google Shape;1110;p18"/>
            <p:cNvSpPr/>
            <p:nvPr/>
          </p:nvSpPr>
          <p:spPr>
            <a:xfrm>
              <a:off x="5074920" y="3252240"/>
              <a:ext cx="339840" cy="276840"/>
            </a:xfrm>
            <a:custGeom>
              <a:rect b="b" l="l" r="r" t="t"/>
              <a:pathLst>
                <a:path extrusionOk="0" h="16377" w="20081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11" name="Google Shape;111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2" name="Google Shape;1112;p18"/>
          <p:cNvSpPr/>
          <p:nvPr/>
        </p:nvSpPr>
        <p:spPr>
          <a:xfrm>
            <a:off x="2275900" y="3016725"/>
            <a:ext cx="4762500" cy="163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9.0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a2c2c507-2e28-48b1-9d5c-683259a4caf4</vt:lpwstr>
  </property>
</Properties>
</file>